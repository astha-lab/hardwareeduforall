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964" r:id="rId2"/>
  </p:sldMasterIdLst>
  <p:notesMasterIdLst>
    <p:notesMasterId r:id="rId30"/>
  </p:notesMasterIdLst>
  <p:sldIdLst>
    <p:sldId id="257" r:id="rId3"/>
    <p:sldId id="312" r:id="rId4"/>
    <p:sldId id="313" r:id="rId5"/>
    <p:sldId id="314" r:id="rId6"/>
    <p:sldId id="315" r:id="rId7"/>
    <p:sldId id="316" r:id="rId8"/>
    <p:sldId id="303" r:id="rId9"/>
    <p:sldId id="322" r:id="rId10"/>
    <p:sldId id="302" r:id="rId11"/>
    <p:sldId id="304" r:id="rId12"/>
    <p:sldId id="329" r:id="rId13"/>
    <p:sldId id="298" r:id="rId14"/>
    <p:sldId id="299" r:id="rId15"/>
    <p:sldId id="323" r:id="rId16"/>
    <p:sldId id="307" r:id="rId17"/>
    <p:sldId id="325" r:id="rId18"/>
    <p:sldId id="308" r:id="rId19"/>
    <p:sldId id="309" r:id="rId20"/>
    <p:sldId id="310" r:id="rId21"/>
    <p:sldId id="311" r:id="rId22"/>
    <p:sldId id="324" r:id="rId23"/>
    <p:sldId id="326" r:id="rId24"/>
    <p:sldId id="305" r:id="rId25"/>
    <p:sldId id="318" r:id="rId26"/>
    <p:sldId id="327" r:id="rId27"/>
    <p:sldId id="328" r:id="rId28"/>
    <p:sldId id="31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404FC7-3F22-E4B0-5562-B7FECB5EE7DE}" v="47" dt="2024-06-28T11:32:34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, Mahmudul" userId="S::m588h354@home.ku.edu::391e8b2b-beaa-4adb-a284-c832da9f76e7" providerId="AD" clId="Web-{E3404FC7-3F22-E4B0-5562-B7FECB5EE7DE}"/>
    <pc:docChg chg="addSld modSld sldOrd">
      <pc:chgData name="Hasan, Mahmudul" userId="S::m588h354@home.ku.edu::391e8b2b-beaa-4adb-a284-c832da9f76e7" providerId="AD" clId="Web-{E3404FC7-3F22-E4B0-5562-B7FECB5EE7DE}" dt="2024-06-28T11:32:34.048" v="45"/>
      <pc:docMkLst>
        <pc:docMk/>
      </pc:docMkLst>
      <pc:sldChg chg="add">
        <pc:chgData name="Hasan, Mahmudul" userId="S::m588h354@home.ku.edu::391e8b2b-beaa-4adb-a284-c832da9f76e7" providerId="AD" clId="Web-{E3404FC7-3F22-E4B0-5562-B7FECB5EE7DE}" dt="2024-06-28T11:32:08.641" v="43"/>
        <pc:sldMkLst>
          <pc:docMk/>
          <pc:sldMk cId="1574338913" sldId="298"/>
        </pc:sldMkLst>
      </pc:sldChg>
      <pc:sldChg chg="add">
        <pc:chgData name="Hasan, Mahmudul" userId="S::m588h354@home.ku.edu::391e8b2b-beaa-4adb-a284-c832da9f76e7" providerId="AD" clId="Web-{E3404FC7-3F22-E4B0-5562-B7FECB5EE7DE}" dt="2024-06-28T11:32:08.641" v="44"/>
        <pc:sldMkLst>
          <pc:docMk/>
          <pc:sldMk cId="2665207112" sldId="299"/>
        </pc:sldMkLst>
      </pc:sldChg>
      <pc:sldChg chg="modSp">
        <pc:chgData name="Hasan, Mahmudul" userId="S::m588h354@home.ku.edu::391e8b2b-beaa-4adb-a284-c832da9f76e7" providerId="AD" clId="Web-{E3404FC7-3F22-E4B0-5562-B7FECB5EE7DE}" dt="2024-06-28T11:30:35.512" v="42" actId="14100"/>
        <pc:sldMkLst>
          <pc:docMk/>
          <pc:sldMk cId="4092938965" sldId="323"/>
        </pc:sldMkLst>
        <pc:spChg chg="mod">
          <ac:chgData name="Hasan, Mahmudul" userId="S::m588h354@home.ku.edu::391e8b2b-beaa-4adb-a284-c832da9f76e7" providerId="AD" clId="Web-{E3404FC7-3F22-E4B0-5562-B7FECB5EE7DE}" dt="2024-06-28T11:30:35.512" v="42" actId="14100"/>
          <ac:spMkLst>
            <pc:docMk/>
            <pc:sldMk cId="4092938965" sldId="323"/>
            <ac:spMk id="20" creationId="{CB9D7DE7-623D-7975-0274-62667BF61AE0}"/>
          </ac:spMkLst>
        </pc:spChg>
        <pc:cxnChg chg="mod">
          <ac:chgData name="Hasan, Mahmudul" userId="S::m588h354@home.ku.edu::391e8b2b-beaa-4adb-a284-c832da9f76e7" providerId="AD" clId="Web-{E3404FC7-3F22-E4B0-5562-B7FECB5EE7DE}" dt="2024-06-28T11:30:35.512" v="42" actId="14100"/>
          <ac:cxnSpMkLst>
            <pc:docMk/>
            <pc:sldMk cId="4092938965" sldId="323"/>
            <ac:cxnSpMk id="21" creationId="{CDFA8647-E648-A089-2867-522E6CAC1614}"/>
          </ac:cxnSpMkLst>
        </pc:cxnChg>
      </pc:sldChg>
      <pc:sldChg chg="add ord replId">
        <pc:chgData name="Hasan, Mahmudul" userId="S::m588h354@home.ku.edu::391e8b2b-beaa-4adb-a284-c832da9f76e7" providerId="AD" clId="Web-{E3404FC7-3F22-E4B0-5562-B7FECB5EE7DE}" dt="2024-06-28T11:32:34.048" v="45"/>
        <pc:sldMkLst>
          <pc:docMk/>
          <pc:sldMk cId="2736583270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8D023-19DD-4213-ACD4-C276704CFDED}" type="datetimeFigureOut">
              <a:t>6/28/2024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423B6-D784-43A9-91AC-497CCEBDF6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6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7211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270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5404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3713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6808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0491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0923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8751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787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639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The thing is software remain vulnerable. </a:t>
            </a:r>
            <a:r>
              <a:rPr lang="en-US" dirty="0"/>
              <a:t>every few weeks new data breaches occur in fact 90% of today's attacks actually use attack technique called </a:t>
            </a:r>
            <a:r>
              <a:rPr lang="en-US" dirty="0" err="1"/>
              <a:t>rop</a:t>
            </a:r>
            <a:r>
              <a:rPr lang="en-US" dirty="0"/>
              <a:t> or return oriented programming which you may be familiar with but I will run through it quickly in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3629732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cs typeface="Calibri"/>
              </a:rPr>
              <a:t>There is a vulnerability in the </a:t>
            </a:r>
            <a:r>
              <a:rPr lang="en-US" dirty="0" err="1">
                <a:cs typeface="Calibri"/>
              </a:rPr>
              <a:t>agent.c</a:t>
            </a:r>
            <a:r>
              <a:rPr lang="en-US" dirty="0">
                <a:cs typeface="Calibri"/>
              </a:rPr>
              <a:t> program!!! If we run this program on a </a:t>
            </a:r>
            <a:r>
              <a:rPr lang="en-US" dirty="0" err="1">
                <a:cs typeface="Calibri"/>
              </a:rPr>
              <a:t>linux</a:t>
            </a:r>
            <a:r>
              <a:rPr lang="en-US" dirty="0">
                <a:cs typeface="Calibri"/>
              </a:rPr>
              <a:t> machine we should get a core file that describes where the segmentation fault occurred.</a:t>
            </a:r>
          </a:p>
        </p:txBody>
      </p:sp>
    </p:spTree>
    <p:extLst>
      <p:ext uri="{BB962C8B-B14F-4D97-AF65-F5344CB8AC3E}">
        <p14:creationId xmlns:p14="http://schemas.microsoft.com/office/powerpoint/2010/main" val="790444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1775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4766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8855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535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0730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7554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87974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6894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30414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88550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5705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76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67498" y="2328844"/>
            <a:ext cx="6661249" cy="628762"/>
          </a:xfrm>
          <a:prstGeom prst="callout1">
            <a:avLst>
              <a:gd name="adj1" fmla="val 151403"/>
              <a:gd name="adj2" fmla="val 99873"/>
              <a:gd name="adj3" fmla="val 151570"/>
              <a:gd name="adj4" fmla="val 213"/>
            </a:avLst>
          </a:prstGeom>
          <a:noFill/>
          <a:ln w="44450">
            <a:solidFill>
              <a:schemeClr val="bg1"/>
            </a:solidFill>
          </a:ln>
        </p:spPr>
        <p:txBody>
          <a:bodyPr wrap="square" tIns="45720" bIns="45720" anchor="ctr">
            <a:spAutoFit/>
          </a:bodyPr>
          <a:lstStyle>
            <a:lvl1pPr algn="l">
              <a:lnSpc>
                <a:spcPct val="83000"/>
              </a:lnSpc>
              <a:defRPr lang="en-US" sz="4200" b="1" kern="1200" cap="all" spc="45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88530" y="1146085"/>
            <a:ext cx="4207152" cy="34739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spc="450" baseline="0">
                <a:solidFill>
                  <a:srgbClr val="2767FF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4036D0F-E6CC-AD4F-9DE7-1B86DEF9BD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6405"/>
          <a:stretch/>
        </p:blipFill>
        <p:spPr>
          <a:xfrm>
            <a:off x="7694407" y="5746174"/>
            <a:ext cx="868680" cy="11118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BF0A6A2-7D8C-F341-9392-3B8CB07223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10"/>
          <a:stretch/>
        </p:blipFill>
        <p:spPr>
          <a:xfrm>
            <a:off x="10367640" y="-1"/>
            <a:ext cx="1239147" cy="12331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5C8E371-A18B-9649-9D46-C040852A6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764" y="764795"/>
            <a:ext cx="1239147" cy="3474720"/>
          </a:xfrm>
          <a:prstGeom prst="rect">
            <a:avLst/>
          </a:prstGeom>
        </p:spPr>
      </p:pic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2A50F33-1127-9044-987A-9E84151D871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482971" y="3921067"/>
            <a:ext cx="7507518" cy="738664"/>
          </a:xfrm>
          <a:prstGeom prst="callout1">
            <a:avLst>
              <a:gd name="adj1" fmla="val 142408"/>
              <a:gd name="adj2" fmla="val 100539"/>
              <a:gd name="adj3" fmla="val 142808"/>
              <a:gd name="adj4" fmla="val 61"/>
            </a:avLst>
          </a:prstGeom>
          <a:ln w="44450">
            <a:solidFill>
              <a:schemeClr val="bg1"/>
            </a:solidFill>
          </a:ln>
        </p:spPr>
        <p:txBody>
          <a:bodyPr wrap="square">
            <a:spAutoFit/>
          </a:bodyPr>
          <a:lstStyle>
            <a:lvl1pPr marL="0" indent="0">
              <a:buFontTx/>
              <a:buNone/>
              <a:defRPr sz="4200" b="1" cap="all" spc="450" baseline="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Second line of title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DE7726-77AE-414C-AA4F-BA3F269E53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70581" y="5955776"/>
            <a:ext cx="2536206" cy="55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30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DDE5ED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9034885" cy="4467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B304764-A6E3-F44A-9B34-CAF3E677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F8A9C23-D111-364B-B2F1-E0654317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45059F5-336C-CA4C-9356-F25990B6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405C21-E491-BC4E-BEEA-DC2984EA70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6800" y="1511300"/>
            <a:ext cx="100584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779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F04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26C5FE-DDD3-6645-A255-E80B266A4C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49"/>
          <a:stretch/>
        </p:blipFill>
        <p:spPr>
          <a:xfrm>
            <a:off x="10272625" y="0"/>
            <a:ext cx="868680" cy="907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9CD684-1424-7E44-89BF-1FDC7AC58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27"/>
          <a:stretch/>
        </p:blipFill>
        <p:spPr>
          <a:xfrm>
            <a:off x="9355851" y="4968711"/>
            <a:ext cx="1239147" cy="188928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49013512-CA4A-B745-8FB9-1A54E5B23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7498" y="1803680"/>
            <a:ext cx="6661249" cy="628762"/>
          </a:xfrm>
          <a:prstGeom prst="callout1">
            <a:avLst>
              <a:gd name="adj1" fmla="val 152089"/>
              <a:gd name="adj2" fmla="val 98902"/>
              <a:gd name="adj3" fmla="val 151570"/>
              <a:gd name="adj4" fmla="val 213"/>
            </a:avLst>
          </a:prstGeom>
          <a:noFill/>
          <a:ln w="44450">
            <a:solidFill>
              <a:schemeClr val="bg1"/>
            </a:solidFill>
          </a:ln>
        </p:spPr>
        <p:txBody>
          <a:bodyPr wrap="square" tIns="45720" bIns="45720" anchor="ctr">
            <a:spAutoFit/>
          </a:bodyPr>
          <a:lstStyle>
            <a:lvl1pPr algn="l">
              <a:lnSpc>
                <a:spcPct val="83000"/>
              </a:lnSpc>
              <a:defRPr lang="en-US" sz="4200" b="1" kern="1200" cap="all" spc="45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  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8F4CE4FA-E97A-1F46-8C6F-93D575A760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82971" y="3502810"/>
            <a:ext cx="7497012" cy="738664"/>
          </a:xfrm>
          <a:prstGeom prst="callout1">
            <a:avLst>
              <a:gd name="adj1" fmla="val 140743"/>
              <a:gd name="adj2" fmla="val 98415"/>
              <a:gd name="adj3" fmla="val 142808"/>
              <a:gd name="adj4" fmla="val 61"/>
            </a:avLst>
          </a:prstGeom>
          <a:ln w="44450">
            <a:solidFill>
              <a:schemeClr val="bg1"/>
            </a:solidFill>
          </a:ln>
        </p:spPr>
        <p:txBody>
          <a:bodyPr wrap="square">
            <a:spAutoFit/>
          </a:bodyPr>
          <a:lstStyle>
            <a:lvl1pPr marL="0" indent="0">
              <a:buFontTx/>
              <a:buNone/>
              <a:defRPr sz="4200" b="1" cap="all" spc="450" baseline="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Second line of title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67277-8BE6-464D-B29E-E610810EDA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2842" y="5919242"/>
            <a:ext cx="901052" cy="57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62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DDE5ED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426789"/>
            <a:ext cx="4754880" cy="374904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1426789"/>
            <a:ext cx="4754880" cy="374904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8D46903-12A5-4A4A-91DE-B8D617FD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A4DB4B-0E9F-9942-9277-BEF9ECDF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727DA26-7BCD-E245-8DDF-83534B1D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90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cap="all" spc="250" baseline="0">
                <a:solidFill>
                  <a:srgbClr val="F04137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900" b="1" cap="all" spc="250" baseline="0">
                <a:solidFill>
                  <a:srgbClr val="F04137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18FA918-65B4-214A-9CAB-F8053AA5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305BCAB-C80A-734E-8FE8-C4F5BA37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A860183-361F-1C4B-B886-3F6FF040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36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0A4C793-3B9B-E84F-97F0-4DDEE766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B9923D7-99ED-ED48-A074-DF1596B6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8A27DD-1453-9F49-9E4D-6FEAD51D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12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0A00E-20BE-C948-867E-3668DC43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05E73-AE62-7044-B3B7-B031E8E020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DF0A-9E92-A44E-A7A9-FF0CE25409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08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0"/>
            <a:ext cx="3171614" cy="6858000"/>
          </a:xfrm>
          <a:prstGeom prst="rect">
            <a:avLst/>
          </a:prstGeom>
          <a:solidFill>
            <a:srgbClr val="276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noFill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01707" y="2268971"/>
            <a:ext cx="2430780" cy="36746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4F033-E8B3-FC49-A373-38528C1F1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832" y="718987"/>
            <a:ext cx="2301368" cy="830997"/>
          </a:xfrm>
          <a:prstGeom prst="callout1">
            <a:avLst>
              <a:gd name="adj1" fmla="val 130380"/>
              <a:gd name="adj2" fmla="val 97389"/>
              <a:gd name="adj3" fmla="val 130532"/>
              <a:gd name="adj4" fmla="val 882"/>
            </a:avLst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 add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41F8B18-227C-FD4B-9CE2-DB080376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03DEA8E-EF8B-B54D-BB93-3910E00B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6354079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66535B3-74BE-824E-A5F3-911F2797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274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rtical Content Placeholder 10">
            <a:extLst>
              <a:ext uri="{FF2B5EF4-FFF2-40B4-BE49-F238E27FC236}">
                <a16:creationId xmlns:a16="http://schemas.microsoft.com/office/drawing/2014/main" id="{31988C9D-6340-4641-B3D6-CEF598BDBE21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50303C-5D28-5F4D-B861-06B060BC6F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3AD7D3E-5692-7146-9F5F-0A8B2ECB26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8759A6-6AAC-6447-921C-D80252E618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98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rtical Content Placeholder 10">
            <a:extLst>
              <a:ext uri="{FF2B5EF4-FFF2-40B4-BE49-F238E27FC236}">
                <a16:creationId xmlns:a16="http://schemas.microsoft.com/office/drawing/2014/main" id="{46DD52FC-9FA7-9D47-961B-79256696D98C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>
          <a:xfrm>
            <a:off x="1066800" y="762000"/>
            <a:ext cx="9013825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532" y="762000"/>
            <a:ext cx="1016267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526289-57CA-F843-8A8F-87F100C51C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61B23C-61B2-4C44-A5C8-9CFD7CFB15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46047B-956D-3243-B5FD-F5DC3CCB21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10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ertical Content Placeholder 12">
            <a:extLst>
              <a:ext uri="{FF2B5EF4-FFF2-40B4-BE49-F238E27FC236}">
                <a16:creationId xmlns:a16="http://schemas.microsoft.com/office/drawing/2014/main" id="{D9CE4C93-E6E5-834E-95FE-696ECFBCECE9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>
          <a:xfrm rot="10800000">
            <a:off x="1952625" y="762000"/>
            <a:ext cx="9420225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0800000">
            <a:off x="838200" y="762000"/>
            <a:ext cx="882387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A80655-2B7E-B042-853A-953F0EF0544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7090A5-0D6F-9E49-9A0A-FEA22FCC1B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904694-41A7-0F42-87ED-DD4ADBE8C6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07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289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9034885" cy="446735"/>
          </a:xfrm>
          <a:prstGeom prst="rect">
            <a:avLst/>
          </a:prstGeom>
          <a:ln w="4445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371600"/>
            <a:ext cx="1005840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6800" y="6307672"/>
            <a:ext cx="1275933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216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87BBC1-8790-1F40-A017-B4344BC0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2825" y="6307672"/>
            <a:ext cx="7181711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5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7" r:id="rId7"/>
    <p:sldLayoutId id="2147483972" r:id="rId8"/>
    <p:sldLayoutId id="2147483974" r:id="rId9"/>
    <p:sldLayoutId id="2147483975" r:id="rId10"/>
    <p:sldLayoutId id="2147483976" r:id="rId11"/>
    <p:sldLayoutId id="214748397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b="1" kern="1200" cap="all" spc="450" baseline="0" dirty="0">
          <a:solidFill>
            <a:srgbClr val="2767FF"/>
          </a:solidFill>
          <a:effectLst/>
          <a:latin typeface="+mj-lt"/>
          <a:ea typeface="+mn-ea"/>
          <a:cs typeface="+mn-cs"/>
        </a:defRPr>
      </a:lvl1pPr>
    </p:titleStyle>
    <p:bodyStyle>
      <a:lvl1pPr marL="274320" indent="-27432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69894"/>
            <a:ext cx="9144000" cy="1815634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Lucida Sans"/>
              </a:rPr>
              <a:t>EECS </a:t>
            </a:r>
            <a:r>
              <a:rPr lang="en-US" b="1" dirty="0">
                <a:solidFill>
                  <a:srgbClr val="333333"/>
                </a:solidFill>
                <a:latin typeface="Lucida Sans"/>
              </a:rPr>
              <a:t>388</a:t>
            </a:r>
            <a:r>
              <a:rPr lang="en-US" b="1" i="0" dirty="0">
                <a:solidFill>
                  <a:srgbClr val="333333"/>
                </a:solidFill>
                <a:effectLst/>
                <a:latin typeface="Lucida Sans"/>
              </a:rPr>
              <a:t>:</a:t>
            </a:r>
            <a:r>
              <a:rPr lang="en-US" b="1" dirty="0">
                <a:solidFill>
                  <a:srgbClr val="333333"/>
                </a:solidFill>
                <a:latin typeface="Lucida Sans"/>
                <a:ea typeface="+mj-lt"/>
                <a:cs typeface="+mj-lt"/>
              </a:rPr>
              <a:t> </a:t>
            </a:r>
            <a:br>
              <a:rPr lang="en-US" b="1" dirty="0">
                <a:solidFill>
                  <a:srgbClr val="333333"/>
                </a:solidFill>
                <a:latin typeface="Lucida Sans"/>
                <a:ea typeface="+mj-lt"/>
                <a:cs typeface="+mj-lt"/>
              </a:rPr>
            </a:br>
            <a:r>
              <a:rPr lang="en-US" b="1" dirty="0">
                <a:latin typeface="Lucida Sans"/>
                <a:ea typeface="+mj-lt"/>
                <a:cs typeface="+mj-lt"/>
              </a:rPr>
              <a:t>Embedded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>
                <a:solidFill>
                  <a:srgbClr val="2767FF"/>
                </a:solidFill>
                <a:latin typeface="Lucida Sans"/>
              </a:rPr>
              <a:t>A practical session on how to do buffer overflow attack</a:t>
            </a:r>
          </a:p>
        </p:txBody>
      </p:sp>
    </p:spTree>
    <p:extLst>
      <p:ext uri="{BB962C8B-B14F-4D97-AF65-F5344CB8AC3E}">
        <p14:creationId xmlns:p14="http://schemas.microsoft.com/office/powerpoint/2010/main" val="265870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6856D05-3E1D-8937-16F2-D24011C385CA}"/>
              </a:ext>
            </a:extLst>
          </p:cNvPr>
          <p:cNvGrpSpPr/>
          <p:nvPr/>
        </p:nvGrpSpPr>
        <p:grpSpPr>
          <a:xfrm>
            <a:off x="1626433" y="1874"/>
            <a:ext cx="8926642" cy="6691859"/>
            <a:chOff x="1626433" y="1874"/>
            <a:chExt cx="8926642" cy="6691859"/>
          </a:xfrm>
        </p:grpSpPr>
        <p:pic>
          <p:nvPicPr>
            <p:cNvPr id="2" name="Picture 2" descr="Diagram&#10;&#10;Description automatically generated">
              <a:extLst>
                <a:ext uri="{FF2B5EF4-FFF2-40B4-BE49-F238E27FC236}">
                  <a16:creationId xmlns:a16="http://schemas.microsoft.com/office/drawing/2014/main" id="{1DEC7E22-9BB9-70A4-6AAC-A78814CF5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6433" y="1874"/>
              <a:ext cx="8926642" cy="6691859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E03FF8-81B4-8530-5683-AD2BC595BDE7}"/>
                </a:ext>
              </a:extLst>
            </p:cNvPr>
            <p:cNvSpPr/>
            <p:nvPr/>
          </p:nvSpPr>
          <p:spPr>
            <a:xfrm>
              <a:off x="10055901" y="6108491"/>
              <a:ext cx="437213" cy="312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757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8AC484-CFDB-D844-390A-4C09A0E19A1A}"/>
              </a:ext>
            </a:extLst>
          </p:cNvPr>
          <p:cNvGrpSpPr/>
          <p:nvPr/>
        </p:nvGrpSpPr>
        <p:grpSpPr>
          <a:xfrm>
            <a:off x="1663907" y="1873"/>
            <a:ext cx="8864184" cy="6654384"/>
            <a:chOff x="1663907" y="1873"/>
            <a:chExt cx="8864184" cy="6654384"/>
          </a:xfrm>
        </p:grpSpPr>
        <p:pic>
          <p:nvPicPr>
            <p:cNvPr id="2" name="Picture 2" descr="Diagram&#10;&#10;Description automatically generated">
              <a:extLst>
                <a:ext uri="{FF2B5EF4-FFF2-40B4-BE49-F238E27FC236}">
                  <a16:creationId xmlns:a16="http://schemas.microsoft.com/office/drawing/2014/main" id="{A5EC5FD2-7279-F9B8-03A0-FA07C22F2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3907" y="1873"/>
              <a:ext cx="8864184" cy="665438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63803D-D2C8-FB88-3151-5DEE5C44EA4E}"/>
                </a:ext>
              </a:extLst>
            </p:cNvPr>
            <p:cNvSpPr/>
            <p:nvPr/>
          </p:nvSpPr>
          <p:spPr>
            <a:xfrm>
              <a:off x="10055901" y="6108491"/>
              <a:ext cx="437213" cy="312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844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6FF6DEB-B54E-3B75-1E63-2C8055B3256C}"/>
              </a:ext>
            </a:extLst>
          </p:cNvPr>
          <p:cNvGrpSpPr/>
          <p:nvPr/>
        </p:nvGrpSpPr>
        <p:grpSpPr>
          <a:xfrm>
            <a:off x="1651417" y="1874"/>
            <a:ext cx="8889167" cy="6666875"/>
            <a:chOff x="1651417" y="1874"/>
            <a:chExt cx="8889167" cy="6666875"/>
          </a:xfrm>
        </p:grpSpPr>
        <p:pic>
          <p:nvPicPr>
            <p:cNvPr id="2" name="Picture 2" descr="Diagram&#10;&#10;Description automatically generated">
              <a:extLst>
                <a:ext uri="{FF2B5EF4-FFF2-40B4-BE49-F238E27FC236}">
                  <a16:creationId xmlns:a16="http://schemas.microsoft.com/office/drawing/2014/main" id="{86BE84F6-C8AD-4E79-5565-B11811708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417" y="1874"/>
              <a:ext cx="8889167" cy="666687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34A502-2D01-38EA-EA76-A3399E8B1278}"/>
                </a:ext>
              </a:extLst>
            </p:cNvPr>
            <p:cNvSpPr/>
            <p:nvPr/>
          </p:nvSpPr>
          <p:spPr>
            <a:xfrm>
              <a:off x="10055901" y="6108491"/>
              <a:ext cx="437213" cy="312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8650A8-F374-25F7-E360-17B182ADC9D0}"/>
              </a:ext>
            </a:extLst>
          </p:cNvPr>
          <p:cNvGrpSpPr/>
          <p:nvPr/>
        </p:nvGrpSpPr>
        <p:grpSpPr>
          <a:xfrm>
            <a:off x="1626433" y="1874"/>
            <a:ext cx="8939133" cy="6704350"/>
            <a:chOff x="1626433" y="1874"/>
            <a:chExt cx="8939133" cy="6704350"/>
          </a:xfrm>
        </p:grpSpPr>
        <p:pic>
          <p:nvPicPr>
            <p:cNvPr id="2" name="Picture 2" descr="Diagram&#10;&#10;Description automatically generated">
              <a:extLst>
                <a:ext uri="{FF2B5EF4-FFF2-40B4-BE49-F238E27FC236}">
                  <a16:creationId xmlns:a16="http://schemas.microsoft.com/office/drawing/2014/main" id="{D369D730-CEFB-4D22-14BA-D17CB42E5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6433" y="1874"/>
              <a:ext cx="8939133" cy="670435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A0E500-C491-1718-8875-1A05F3CC77ED}"/>
                </a:ext>
              </a:extLst>
            </p:cNvPr>
            <p:cNvSpPr/>
            <p:nvPr/>
          </p:nvSpPr>
          <p:spPr>
            <a:xfrm>
              <a:off x="10055901" y="6108491"/>
              <a:ext cx="437213" cy="312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0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CB443FF-C0AF-F378-70BE-213D706F53AF}"/>
              </a:ext>
            </a:extLst>
          </p:cNvPr>
          <p:cNvGrpSpPr/>
          <p:nvPr/>
        </p:nvGrpSpPr>
        <p:grpSpPr>
          <a:xfrm>
            <a:off x="1613941" y="1874"/>
            <a:ext cx="8964118" cy="6729334"/>
            <a:chOff x="1613941" y="1874"/>
            <a:chExt cx="8964118" cy="6729334"/>
          </a:xfrm>
        </p:grpSpPr>
        <p:pic>
          <p:nvPicPr>
            <p:cNvPr id="2" name="Picture 2" descr="Diagram&#10;&#10;Description automatically generated">
              <a:extLst>
                <a:ext uri="{FF2B5EF4-FFF2-40B4-BE49-F238E27FC236}">
                  <a16:creationId xmlns:a16="http://schemas.microsoft.com/office/drawing/2014/main" id="{7000FE0F-DAF2-A419-8126-C377683FF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3941" y="1874"/>
              <a:ext cx="8964118" cy="672933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C83694-C00D-241F-62EB-E4AEC99AFA99}"/>
                </a:ext>
              </a:extLst>
            </p:cNvPr>
            <p:cNvSpPr/>
            <p:nvPr/>
          </p:nvSpPr>
          <p:spPr>
            <a:xfrm>
              <a:off x="10055901" y="6108491"/>
              <a:ext cx="437213" cy="312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85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Buffer overflow vulnerability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ABF7-0AC5-5684-6D35-169C91B0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763808"/>
            <a:ext cx="11641536" cy="4926636"/>
          </a:xfrm>
        </p:spPr>
        <p:txBody>
          <a:bodyPr/>
          <a:lstStyle/>
          <a:p>
            <a:pPr marL="608965" indent="-456565"/>
            <a:r>
              <a:rPr lang="en-US" sz="2800" dirty="0">
                <a:latin typeface="Lucida Sans"/>
                <a:cs typeface="Arial"/>
              </a:rPr>
              <a:t>In summary</a:t>
            </a:r>
            <a:endParaRPr lang="en-US" sz="2800">
              <a:latin typeface="Lucida Sans"/>
              <a:cs typeface="Arial"/>
            </a:endParaRPr>
          </a:p>
          <a:p>
            <a:pPr marL="1218565" indent="-422910">
              <a:buClr>
                <a:srgbClr val="262626"/>
              </a:buClr>
              <a:buFont typeface="Wingdings" panose="020B0604020202020204" pitchFamily="34" charset="0"/>
              <a:buChar char="v"/>
            </a:pPr>
            <a:r>
              <a:rPr lang="en-US" sz="2800" dirty="0">
                <a:latin typeface="Lucida Sans"/>
                <a:ea typeface="+mn-lt"/>
                <a:cs typeface="+mn-lt"/>
              </a:rPr>
              <a:t>Program fails to ensure that a write to a buffer is always within its bound.</a:t>
            </a:r>
            <a:endParaRPr lang="en-US" sz="2800">
              <a:latin typeface="Lucida Sans"/>
              <a:cs typeface="Arial"/>
            </a:endParaRPr>
          </a:p>
          <a:p>
            <a:pPr marL="1218565" lvl="1" indent="-422910">
              <a:buClr>
                <a:srgbClr val="262626"/>
              </a:buClr>
              <a:buSzPts val="1800"/>
              <a:buFont typeface="Wingdings" panose="020B0604020202020204" pitchFamily="34" charset="0"/>
              <a:buChar char="v"/>
            </a:pPr>
            <a:r>
              <a:rPr lang="en-US" sz="2800" dirty="0">
                <a:latin typeface="Lucida Sans"/>
                <a:ea typeface="+mn-lt"/>
                <a:cs typeface="+mn-lt"/>
              </a:rPr>
              <a:t>When a buffer overflow happens, data structures in memory will be corrupted, potentially changing the program’s behavior.</a:t>
            </a:r>
            <a:endParaRPr lang="en-US" sz="2800">
              <a:latin typeface="Lucida Sans"/>
              <a:cs typeface="Arial" panose="020B0604020202020204"/>
            </a:endParaRPr>
          </a:p>
          <a:p>
            <a:pPr marL="1218565" lvl="1" indent="-422910">
              <a:buClr>
                <a:srgbClr val="262626"/>
              </a:buClr>
              <a:buSzPts val="1800"/>
              <a:buFont typeface="Wingdings" panose="020B0604020202020204" pitchFamily="34" charset="0"/>
              <a:buChar char="v"/>
            </a:pPr>
            <a:r>
              <a:rPr lang="en-US" sz="2800" dirty="0">
                <a:latin typeface="Lucida Sans"/>
                <a:ea typeface="+mn-lt"/>
                <a:cs typeface="+mn-lt"/>
              </a:rPr>
              <a:t>In many cases it can lead to the execution of arbitrary code by attackers</a:t>
            </a:r>
            <a:endParaRPr lang="en-US" sz="2800">
              <a:latin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89786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Creating a malicious input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ABF7-0AC5-5684-6D35-169C91B0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751317"/>
            <a:ext cx="11641536" cy="1865159"/>
          </a:xfrm>
        </p:spPr>
        <p:txBody>
          <a:bodyPr/>
          <a:lstStyle/>
          <a:p>
            <a:pPr marL="608965" indent="-456565"/>
            <a:r>
              <a:rPr lang="en-US" sz="2800" dirty="0">
                <a:latin typeface="Lucida Sans"/>
                <a:cs typeface="Arial"/>
              </a:rPr>
              <a:t>How long should be the input be?</a:t>
            </a:r>
          </a:p>
          <a:p>
            <a:pPr marL="608965" indent="-456565">
              <a:buClr>
                <a:srgbClr val="262626"/>
              </a:buClr>
            </a:pPr>
            <a:r>
              <a:rPr lang="en-US" sz="2800" dirty="0">
                <a:latin typeface="Lucida Sans"/>
                <a:cs typeface="Arial"/>
              </a:rPr>
              <a:t>Where should we put the EIP in the input?</a:t>
            </a:r>
          </a:p>
          <a:p>
            <a:pPr marL="608965" indent="-456565">
              <a:buClr>
                <a:srgbClr val="262626"/>
              </a:buClr>
            </a:pPr>
            <a:r>
              <a:rPr lang="en-US" sz="2800" dirty="0">
                <a:latin typeface="Lucida Sans"/>
                <a:cs typeface="Arial"/>
              </a:rPr>
              <a:t>What value of EIP should be put in?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848839-278D-5C6A-8B26-E6880E22F5AA}"/>
              </a:ext>
            </a:extLst>
          </p:cNvPr>
          <p:cNvSpPr txBox="1"/>
          <p:nvPr/>
        </p:nvSpPr>
        <p:spPr>
          <a:xfrm>
            <a:off x="9113920" y="6356684"/>
            <a:ext cx="28575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cs typeface="Arial"/>
              </a:rPr>
              <a:t>Source: </a:t>
            </a:r>
            <a:r>
              <a:rPr lang="en-US" sz="1100" b="1" dirty="0">
                <a:ea typeface="+mn-lt"/>
                <a:cs typeface="+mn-lt"/>
              </a:rPr>
              <a:t>Alex Bardas's EECS 765 slides</a:t>
            </a:r>
            <a:endParaRPr lang="en-US" sz="1100" b="1" dirty="0">
              <a:cs typeface="Arial"/>
            </a:endParaRPr>
          </a:p>
        </p:txBody>
      </p:sp>
      <p:pic>
        <p:nvPicPr>
          <p:cNvPr id="4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AAB6F627-E1B6-3C87-2E15-76F5CC853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26" y="2794146"/>
            <a:ext cx="8067173" cy="265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49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FEC3CAF-1865-AABB-DBA5-C55400DF9841}"/>
              </a:ext>
            </a:extLst>
          </p:cNvPr>
          <p:cNvGrpSpPr/>
          <p:nvPr/>
        </p:nvGrpSpPr>
        <p:grpSpPr>
          <a:xfrm>
            <a:off x="1626432" y="39348"/>
            <a:ext cx="8926642" cy="6691858"/>
            <a:chOff x="1626432" y="39348"/>
            <a:chExt cx="8926642" cy="6691858"/>
          </a:xfrm>
        </p:grpSpPr>
        <p:pic>
          <p:nvPicPr>
            <p:cNvPr id="2" name="Picture 2" descr="Chart, diagram&#10;&#10;Description automatically generated">
              <a:extLst>
                <a:ext uri="{FF2B5EF4-FFF2-40B4-BE49-F238E27FC236}">
                  <a16:creationId xmlns:a16="http://schemas.microsoft.com/office/drawing/2014/main" id="{C01DD214-1CDF-954D-CB70-C5AC9A54D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6432" y="39348"/>
              <a:ext cx="8926642" cy="669185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6B8216-7827-107D-AE10-C6A75B7C7A30}"/>
                </a:ext>
              </a:extLst>
            </p:cNvPr>
            <p:cNvSpPr/>
            <p:nvPr/>
          </p:nvSpPr>
          <p:spPr>
            <a:xfrm>
              <a:off x="10055901" y="6108491"/>
              <a:ext cx="437213" cy="312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863BA67-FFF8-00F9-1A66-F4C41616F2D2}"/>
              </a:ext>
            </a:extLst>
          </p:cNvPr>
          <p:cNvSpPr txBox="1"/>
          <p:nvPr/>
        </p:nvSpPr>
        <p:spPr>
          <a:xfrm>
            <a:off x="9113920" y="6356684"/>
            <a:ext cx="28575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cs typeface="Arial"/>
              </a:rPr>
              <a:t>Source: </a:t>
            </a:r>
            <a:r>
              <a:rPr lang="en-US" sz="1100" b="1" dirty="0">
                <a:ea typeface="+mn-lt"/>
                <a:cs typeface="+mn-lt"/>
              </a:rPr>
              <a:t>Alex Bardas's EECS 765 slides</a:t>
            </a:r>
            <a:endParaRPr lang="en-US" sz="11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012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Stack overflow in Embedded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ABF7-0AC5-5684-6D35-169C91B0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763808"/>
            <a:ext cx="11641536" cy="1266539"/>
          </a:xfrm>
        </p:spPr>
        <p:txBody>
          <a:bodyPr/>
          <a:lstStyle/>
          <a:p>
            <a:pPr marL="608965" indent="-456565"/>
            <a:r>
              <a:rPr lang="en-US" sz="2800" dirty="0">
                <a:latin typeface="Lucida Sans"/>
                <a:ea typeface="+mn-lt"/>
                <a:cs typeface="+mn-lt"/>
              </a:rPr>
              <a:t>The concept remains the same</a:t>
            </a:r>
          </a:p>
          <a:p>
            <a:pPr marL="608965" indent="-456565">
              <a:buClr>
                <a:srgbClr val="262626"/>
              </a:buClr>
            </a:pPr>
            <a:r>
              <a:rPr lang="en-US" sz="2800" dirty="0">
                <a:latin typeface="Lucida Sans"/>
                <a:cs typeface="Arial"/>
              </a:rPr>
              <a:t>Attack strategy change based on memory organization</a:t>
            </a:r>
          </a:p>
        </p:txBody>
      </p:sp>
      <p:pic>
        <p:nvPicPr>
          <p:cNvPr id="3" name="Picture 6" descr="Diagram&#10;&#10;Description automatically generated">
            <a:extLst>
              <a:ext uri="{FF2B5EF4-FFF2-40B4-BE49-F238E27FC236}">
                <a16:creationId xmlns:a16="http://schemas.microsoft.com/office/drawing/2014/main" id="{7A336C2A-BFEF-B4EE-7F17-A3A769321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" y="2372094"/>
            <a:ext cx="4822479" cy="3257216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B354F-8CC3-7790-386C-9611E33CA04C}"/>
              </a:ext>
            </a:extLst>
          </p:cNvPr>
          <p:cNvSpPr txBox="1"/>
          <p:nvPr/>
        </p:nvSpPr>
        <p:spPr>
          <a:xfrm>
            <a:off x="69712" y="5760938"/>
            <a:ext cx="323581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Lucida Sans"/>
                <a:cs typeface="Arial"/>
              </a:rPr>
              <a:t>ROM 8051: </a:t>
            </a:r>
          </a:p>
          <a:p>
            <a:pPr marL="342900" indent="-342900">
              <a:buAutoNum type="arabicPeriod"/>
            </a:pPr>
            <a:r>
              <a:rPr lang="en-US" dirty="0">
                <a:latin typeface="Lucida Sans"/>
                <a:cs typeface="Arial"/>
              </a:rPr>
              <a:t>Code being executed</a:t>
            </a:r>
          </a:p>
          <a:p>
            <a:pPr marL="342900" indent="-342900">
              <a:buAutoNum type="arabicPeriod"/>
            </a:pPr>
            <a:r>
              <a:rPr lang="en-US" dirty="0">
                <a:latin typeface="Lucida Sans"/>
                <a:cs typeface="Arial"/>
              </a:rPr>
              <a:t>Read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56ED4-BA20-7ED2-5E3F-644CF255E9FE}"/>
              </a:ext>
            </a:extLst>
          </p:cNvPr>
          <p:cNvSpPr txBox="1"/>
          <p:nvPr/>
        </p:nvSpPr>
        <p:spPr>
          <a:xfrm>
            <a:off x="4817403" y="5763970"/>
            <a:ext cx="357506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Lucida Sans"/>
                <a:cs typeface="Arial"/>
              </a:rPr>
              <a:t>RAM 8051:</a:t>
            </a:r>
            <a:r>
              <a:rPr lang="en-US" dirty="0">
                <a:latin typeface="Lucida Sans"/>
                <a:cs typeface="Arial"/>
              </a:rPr>
              <a:t> 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latin typeface="Lucida Sans"/>
                <a:cs typeface="Arial"/>
              </a:rPr>
              <a:t>Up to 256 bytes &amp; </a:t>
            </a:r>
          </a:p>
          <a:p>
            <a:pPr marL="342900" indent="-342900">
              <a:buAutoNum type="arabicPeriod"/>
            </a:pPr>
            <a:r>
              <a:rPr lang="en-US" dirty="0">
                <a:latin typeface="Lucida Sans"/>
                <a:cs typeface="Arial"/>
              </a:rPr>
              <a:t>stack starts from Bank 1</a:t>
            </a:r>
            <a:endParaRPr lang="en-US" dirty="0"/>
          </a:p>
        </p:txBody>
      </p:sp>
      <p:pic>
        <p:nvPicPr>
          <p:cNvPr id="10" name="Picture 11" descr="Diagram, timeline&#10;&#10;Description automatically generated">
            <a:extLst>
              <a:ext uri="{FF2B5EF4-FFF2-40B4-BE49-F238E27FC236}">
                <a16:creationId xmlns:a16="http://schemas.microsoft.com/office/drawing/2014/main" id="{A0BBA78E-4E29-6D28-081B-95B470CE4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795" y="2373397"/>
            <a:ext cx="4060251" cy="3265344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pic>
        <p:nvPicPr>
          <p:cNvPr id="11" name="Picture 11" descr="Diagram&#10;&#10;Description automatically generated">
            <a:extLst>
              <a:ext uri="{FF2B5EF4-FFF2-40B4-BE49-F238E27FC236}">
                <a16:creationId xmlns:a16="http://schemas.microsoft.com/office/drawing/2014/main" id="{75B24211-2625-F570-EA60-06BDB52C8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3941" y="2290326"/>
            <a:ext cx="2743200" cy="34265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AFF694-A52A-2395-3969-A2602767E538}"/>
              </a:ext>
            </a:extLst>
          </p:cNvPr>
          <p:cNvSpPr txBox="1"/>
          <p:nvPr/>
        </p:nvSpPr>
        <p:spPr>
          <a:xfrm>
            <a:off x="9538521" y="5763969"/>
            <a:ext cx="252653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Lucida Sans"/>
                <a:cs typeface="Arial"/>
              </a:rPr>
              <a:t>Common Memory Architecture:</a:t>
            </a:r>
            <a:endParaRPr lang="en-US" dirty="0">
              <a:latin typeface="Arial" panose="020B0604020202020204"/>
              <a:cs typeface="Arial"/>
            </a:endParaRP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Unified</a:t>
            </a:r>
          </a:p>
        </p:txBody>
      </p:sp>
    </p:spTree>
    <p:extLst>
      <p:ext uri="{BB962C8B-B14F-4D97-AF65-F5344CB8AC3E}">
        <p14:creationId xmlns:p14="http://schemas.microsoft.com/office/powerpoint/2010/main" val="415878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 err="1">
                <a:latin typeface="Lucida Sans"/>
              </a:rPr>
              <a:t>Agent.c</a:t>
            </a:r>
            <a:r>
              <a:rPr lang="en" dirty="0">
                <a:latin typeface="Lucida Sans"/>
              </a:rPr>
              <a:t> program</a:t>
            </a:r>
          </a:p>
        </p:txBody>
      </p:sp>
      <p:sp>
        <p:nvSpPr>
          <p:cNvPr id="6" name="Google Shape;68;p14">
            <a:extLst>
              <a:ext uri="{FF2B5EF4-FFF2-40B4-BE49-F238E27FC236}">
                <a16:creationId xmlns:a16="http://schemas.microsoft.com/office/drawing/2014/main" id="{D165D00C-7AF2-D6DB-936A-844156F37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779305"/>
            <a:ext cx="5069271" cy="5914678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8965" indent="-456565"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#include &lt;reg51.h&gt;</a:t>
            </a:r>
            <a:endParaRPr lang="en" sz="1800" dirty="0">
              <a:latin typeface="Lucida Sans"/>
              <a:cs typeface="Times New Roman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#include &lt;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stdlib.h</a:t>
            </a:r>
            <a:r>
              <a:rPr lang="en" sz="1800" dirty="0">
                <a:latin typeface="Lucida Sans"/>
                <a:ea typeface="+mn-lt"/>
                <a:cs typeface="+mn-lt"/>
              </a:rPr>
              <a:t>&gt;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#include &lt;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string.h</a:t>
            </a:r>
            <a:r>
              <a:rPr lang="en" sz="1800" dirty="0">
                <a:latin typeface="Lucida Sans"/>
                <a:ea typeface="+mn-lt"/>
                <a:cs typeface="+mn-lt"/>
              </a:rPr>
              <a:t>&gt;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#include &lt;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stdio.h</a:t>
            </a:r>
            <a:r>
              <a:rPr lang="en" sz="1800" dirty="0">
                <a:latin typeface="Lucida Sans"/>
                <a:ea typeface="+mn-lt"/>
                <a:cs typeface="+mn-lt"/>
              </a:rPr>
              <a:t>&gt;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typedef struct {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 char *key;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 int value;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}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ListItem</a:t>
            </a:r>
            <a:r>
              <a:rPr lang="en" sz="1800" dirty="0">
                <a:latin typeface="Lucida Sans"/>
                <a:ea typeface="+mn-lt"/>
                <a:cs typeface="+mn-lt"/>
              </a:rPr>
              <a:t>;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endParaRPr lang="en" sz="1800" dirty="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 err="1">
                <a:latin typeface="Lucida Sans"/>
                <a:ea typeface="+mn-lt"/>
                <a:cs typeface="+mn-lt"/>
              </a:rPr>
              <a:t>ListItem</a:t>
            </a:r>
            <a:r>
              <a:rPr lang="en" sz="1800" dirty="0">
                <a:latin typeface="Lucida Sans"/>
                <a:ea typeface="+mn-lt"/>
                <a:cs typeface="+mn-lt"/>
              </a:rPr>
              <a:t> list[] = {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 {"</a:t>
            </a:r>
            <a:r>
              <a:rPr lang="en" sz="1800" dirty="0">
                <a:ea typeface="+mn-lt"/>
                <a:cs typeface="+mn-lt"/>
              </a:rPr>
              <a:t>01012008</a:t>
            </a:r>
            <a:r>
              <a:rPr lang="en" sz="1800" dirty="0">
                <a:latin typeface="Lucida Sans"/>
                <a:ea typeface="+mn-lt"/>
                <a:cs typeface="+mn-lt"/>
              </a:rPr>
              <a:t>", 88},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 {"</a:t>
            </a:r>
            <a:r>
              <a:rPr lang="en" sz="1800" dirty="0">
                <a:ea typeface="+mn-lt"/>
                <a:cs typeface="+mn-lt"/>
              </a:rPr>
              <a:t>01012007</a:t>
            </a:r>
            <a:r>
              <a:rPr lang="en" sz="1800" dirty="0">
                <a:latin typeface="Lucida Sans"/>
                <a:ea typeface="+mn-lt"/>
                <a:cs typeface="+mn-lt"/>
              </a:rPr>
              <a:t>", 87},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 {"</a:t>
            </a:r>
            <a:r>
              <a:rPr lang="en" sz="1800" dirty="0">
                <a:ea typeface="+mn-lt"/>
                <a:cs typeface="+mn-lt"/>
              </a:rPr>
              <a:t>01012006</a:t>
            </a:r>
            <a:r>
              <a:rPr lang="en" sz="1800" dirty="0">
                <a:latin typeface="Lucida Sans"/>
                <a:ea typeface="+mn-lt"/>
                <a:cs typeface="+mn-lt"/>
              </a:rPr>
              <a:t>", 86},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 {"</a:t>
            </a:r>
            <a:r>
              <a:rPr lang="en" sz="1800" dirty="0">
                <a:ea typeface="+mn-lt"/>
                <a:cs typeface="+mn-lt"/>
              </a:rPr>
              <a:t>01012005</a:t>
            </a:r>
            <a:r>
              <a:rPr lang="en" sz="1800" dirty="0">
                <a:latin typeface="Lucida Sans"/>
                <a:ea typeface="+mn-lt"/>
                <a:cs typeface="+mn-lt"/>
              </a:rPr>
              <a:t>", 85},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 {"</a:t>
            </a:r>
            <a:r>
              <a:rPr lang="en" sz="1800" dirty="0">
                <a:ea typeface="+mn-lt"/>
                <a:cs typeface="+mn-lt"/>
              </a:rPr>
              <a:t>01012004</a:t>
            </a:r>
            <a:r>
              <a:rPr lang="en" sz="1800" dirty="0">
                <a:latin typeface="Lucida Sans"/>
                <a:ea typeface="+mn-lt"/>
                <a:cs typeface="+mn-lt"/>
              </a:rPr>
              <a:t>", 84}</a:t>
            </a: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};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cs typeface="Arial" panose="020B0604020202020204"/>
              </a:rPr>
              <a:t>const int </a:t>
            </a:r>
            <a:r>
              <a:rPr lang="en" sz="1800" dirty="0" err="1">
                <a:latin typeface="Lucida Sans"/>
                <a:cs typeface="Arial"/>
              </a:rPr>
              <a:t>list_length</a:t>
            </a:r>
            <a:r>
              <a:rPr lang="en" sz="1800" dirty="0">
                <a:latin typeface="Lucida Sans"/>
                <a:cs typeface="Arial"/>
              </a:rPr>
              <a:t> = </a:t>
            </a:r>
            <a:r>
              <a:rPr lang="en" sz="1800" dirty="0" err="1">
                <a:latin typeface="Lucida Sans"/>
                <a:cs typeface="Arial"/>
              </a:rPr>
              <a:t>sizeof</a:t>
            </a:r>
            <a:r>
              <a:rPr lang="en" sz="1800" dirty="0">
                <a:latin typeface="Lucida Sans"/>
                <a:cs typeface="Arial"/>
              </a:rPr>
              <a:t>(list) / </a:t>
            </a:r>
            <a:r>
              <a:rPr lang="en" sz="1800" dirty="0" err="1">
                <a:latin typeface="Lucida Sans"/>
                <a:cs typeface="Arial"/>
              </a:rPr>
              <a:t>sizeof</a:t>
            </a:r>
            <a:r>
              <a:rPr lang="en" sz="1800" dirty="0">
                <a:latin typeface="Lucida Sans"/>
                <a:cs typeface="Arial"/>
              </a:rPr>
              <a:t>(</a:t>
            </a:r>
            <a:r>
              <a:rPr lang="en" sz="1800" dirty="0" err="1">
                <a:latin typeface="Lucida Sans"/>
                <a:cs typeface="Arial"/>
              </a:rPr>
              <a:t>ListItem</a:t>
            </a:r>
            <a:r>
              <a:rPr lang="en" sz="1800" dirty="0">
                <a:latin typeface="Lucida Sans"/>
                <a:cs typeface="Arial"/>
              </a:rPr>
              <a:t>); </a:t>
            </a:r>
            <a:endParaRPr lang="en" sz="1800">
              <a:latin typeface="Lucida Sans"/>
              <a:cs typeface="Arial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cs typeface="Arial"/>
              </a:rPr>
              <a:t>int </a:t>
            </a:r>
            <a:r>
              <a:rPr lang="en" sz="1800" dirty="0" err="1">
                <a:latin typeface="Lucida Sans"/>
                <a:cs typeface="Arial"/>
              </a:rPr>
              <a:t>get_item_from_list</a:t>
            </a:r>
            <a:r>
              <a:rPr lang="en" sz="1800" dirty="0">
                <a:latin typeface="Lucida Sans"/>
                <a:cs typeface="Arial"/>
              </a:rPr>
              <a:t>(char* str1);</a:t>
            </a:r>
          </a:p>
          <a:p>
            <a:pPr marL="457200" indent="-457200">
              <a:spcAft>
                <a:spcPts val="2133"/>
              </a:spcAft>
              <a:buAutoNum type="arabicPeriod"/>
            </a:pPr>
            <a:endParaRPr lang="en-US" sz="1800" dirty="0">
              <a:latin typeface="Lucida Sans" panose="020B0602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68;p14">
            <a:extLst>
              <a:ext uri="{FF2B5EF4-FFF2-40B4-BE49-F238E27FC236}">
                <a16:creationId xmlns:a16="http://schemas.microsoft.com/office/drawing/2014/main" id="{FDE78685-6CF2-12B7-23CB-87CA8FCB3B13}"/>
              </a:ext>
            </a:extLst>
          </p:cNvPr>
          <p:cNvSpPr txBox="1">
            <a:spLocks/>
          </p:cNvSpPr>
          <p:nvPr/>
        </p:nvSpPr>
        <p:spPr>
          <a:xfrm>
            <a:off x="5611236" y="781310"/>
            <a:ext cx="6282456" cy="5927170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800"/>
              <a:buFont typeface="Arial" panose="020B0604020202020204" pitchFamily="34" charset="0"/>
              <a:buChar char="●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Arial" panose="020B0604020202020204" pitchFamily="34" charset="0"/>
              <a:buChar char="○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Arial" panose="020B0604020202020204" pitchFamily="34" charset="0"/>
              <a:buChar char="●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Arial" panose="020B0604020202020204" pitchFamily="34" charset="0"/>
              <a:buChar char="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Garamond" pitchFamily="18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Garamond" pitchFamily="18" charset="0"/>
              <a:buChar char="●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Garamond" pitchFamily="18" charset="0"/>
              <a:buChar char="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Garamond" pitchFamily="18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int main() { </a:t>
            </a:r>
            <a:endParaRPr lang="en-US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int flag;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char*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input_char</a:t>
            </a:r>
            <a:r>
              <a:rPr lang="en" sz="1800" dirty="0">
                <a:latin typeface="Lucida Sans"/>
                <a:ea typeface="+mn-lt"/>
                <a:cs typeface="+mn-lt"/>
              </a:rPr>
              <a:t> = "</a:t>
            </a:r>
            <a:r>
              <a:rPr lang="en" sz="1800" dirty="0">
                <a:ea typeface="+mn-lt"/>
                <a:cs typeface="+mn-lt"/>
              </a:rPr>
              <a:t>01012007</a:t>
            </a:r>
            <a:r>
              <a:rPr lang="en" sz="1800" dirty="0">
                <a:latin typeface="Lucida Sans"/>
                <a:ea typeface="+mn-lt"/>
                <a:cs typeface="+mn-lt"/>
              </a:rPr>
              <a:t>"; </a:t>
            </a: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int result =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get_item_from_list</a:t>
            </a:r>
            <a:r>
              <a:rPr lang="en" sz="1800" dirty="0">
                <a:latin typeface="Lucida Sans"/>
                <a:ea typeface="+mn-lt"/>
                <a:cs typeface="+mn-lt"/>
              </a:rPr>
              <a:t>(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input_char</a:t>
            </a:r>
            <a:r>
              <a:rPr lang="en" sz="1800" dirty="0">
                <a:latin typeface="Lucida Sans"/>
                <a:ea typeface="+mn-lt"/>
                <a:cs typeface="+mn-lt"/>
              </a:rPr>
              <a:t>);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flag = 1;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return result;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}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int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get_item_from_list</a:t>
            </a:r>
            <a:r>
              <a:rPr lang="en" sz="1800" dirty="0">
                <a:latin typeface="Lucida Sans"/>
                <a:ea typeface="+mn-lt"/>
                <a:cs typeface="+mn-lt"/>
              </a:rPr>
              <a:t>(char* str1) {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// Iterate over the list and find the matching item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int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; char j;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char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buf</a:t>
            </a:r>
            <a:r>
              <a:rPr lang="en" sz="1800" dirty="0">
                <a:latin typeface="Lucida Sans"/>
                <a:ea typeface="+mn-lt"/>
                <a:cs typeface="+mn-lt"/>
              </a:rPr>
              <a:t>[9]; </a:t>
            </a: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strcpy</a:t>
            </a:r>
            <a:r>
              <a:rPr lang="en" sz="1800" dirty="0">
                <a:latin typeface="Lucida Sans"/>
                <a:ea typeface="+mn-lt"/>
                <a:cs typeface="+mn-lt"/>
              </a:rPr>
              <a:t> (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buf</a:t>
            </a:r>
            <a:r>
              <a:rPr lang="en" sz="1800" dirty="0">
                <a:latin typeface="Lucida Sans"/>
                <a:ea typeface="+mn-lt"/>
                <a:cs typeface="+mn-lt"/>
              </a:rPr>
              <a:t>, str1);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for (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 = 0;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 &lt;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list_length</a:t>
            </a:r>
            <a:r>
              <a:rPr lang="en" sz="1800" dirty="0">
                <a:latin typeface="Lucida Sans"/>
                <a:ea typeface="+mn-lt"/>
                <a:cs typeface="+mn-lt"/>
              </a:rPr>
              <a:t>;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++) {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    j =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strcmp</a:t>
            </a:r>
            <a:r>
              <a:rPr lang="en" sz="1800" dirty="0">
                <a:latin typeface="Lucida Sans"/>
                <a:ea typeface="+mn-lt"/>
                <a:cs typeface="+mn-lt"/>
              </a:rPr>
              <a:t> (list[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].key ,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buf</a:t>
            </a:r>
            <a:r>
              <a:rPr lang="en" sz="1800" dirty="0">
                <a:latin typeface="Lucida Sans"/>
                <a:ea typeface="+mn-lt"/>
                <a:cs typeface="+mn-lt"/>
              </a:rPr>
              <a:t>);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    if (j == 0) {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        return list[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].value;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    }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} // If no matching item is found, return NULL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return NULL;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}</a:t>
            </a:r>
            <a:endParaRPr lang="en" dirty="0">
              <a:cs typeface="Arial"/>
            </a:endParaRPr>
          </a:p>
          <a:p>
            <a:pPr marL="609600" indent="-457200">
              <a:buClr>
                <a:srgbClr val="262626"/>
              </a:buClr>
              <a:buAutoNum type="arabicPeriod"/>
            </a:pPr>
            <a:endParaRPr lang="en" sz="1800" dirty="0">
              <a:latin typeface="Lucida Sans"/>
              <a:cs typeface="Arial" panose="020B0604020202020204"/>
            </a:endParaRPr>
          </a:p>
          <a:p>
            <a:pPr marL="457200" indent="-457200">
              <a:spcAft>
                <a:spcPts val="2133"/>
              </a:spcAft>
              <a:buClr>
                <a:prstClr val="black">
                  <a:lumMod val="85000"/>
                  <a:lumOff val="15000"/>
                </a:prstClr>
              </a:buClr>
              <a:buAutoNum type="arabicPeriod"/>
            </a:pPr>
            <a:endParaRPr lang="en-US" sz="1800" dirty="0">
              <a:latin typeface="Lucida Sans" panose="020B0602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583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Let's find out the problem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ABF7-0AC5-5684-6D35-169C91B0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785579"/>
            <a:ext cx="11641536" cy="3209015"/>
          </a:xfrm>
        </p:spPr>
        <p:txBody>
          <a:bodyPr/>
          <a:lstStyle/>
          <a:p>
            <a:pPr marL="608965" indent="-456565"/>
            <a:r>
              <a:rPr lang="en-US" sz="2800" dirty="0">
                <a:latin typeface="Lucida Sans"/>
                <a:cs typeface="Arial"/>
              </a:rPr>
              <a:t>Let's guess a govt. organization need a program that reports the SSN based on the agent's date of birth.</a:t>
            </a:r>
            <a:endParaRPr lang="en-US" sz="2800">
              <a:latin typeface="Lucida Sans"/>
            </a:endParaRPr>
          </a:p>
          <a:p>
            <a:pPr marL="608965" indent="-456565">
              <a:buClr>
                <a:srgbClr val="262626"/>
              </a:buClr>
            </a:pPr>
            <a:r>
              <a:rPr lang="en-US" sz="2800" dirty="0">
                <a:latin typeface="Lucida Sans"/>
                <a:cs typeface="Arial"/>
              </a:rPr>
              <a:t>Requirements:</a:t>
            </a:r>
          </a:p>
          <a:p>
            <a:pPr marL="1218565" lvl="1" indent="-422910">
              <a:buClr>
                <a:srgbClr val="262626"/>
              </a:buClr>
            </a:pPr>
            <a:r>
              <a:rPr lang="en-US" dirty="0">
                <a:latin typeface="Lucida Sans"/>
                <a:cs typeface="Arial"/>
              </a:rPr>
              <a:t>Every person can only get his/her SSN number </a:t>
            </a:r>
          </a:p>
          <a:p>
            <a:pPr marL="1218565" lvl="1" indent="-422910">
              <a:buClr>
                <a:srgbClr val="262626"/>
              </a:buClr>
            </a:pPr>
            <a:r>
              <a:rPr lang="en-US" dirty="0">
                <a:latin typeface="Lucida Sans"/>
                <a:cs typeface="Arial"/>
              </a:rPr>
              <a:t>Maintain all public SSN number in a list/file</a:t>
            </a:r>
          </a:p>
          <a:p>
            <a:pPr marL="1218565" lvl="1" indent="-422910">
              <a:buClr>
                <a:srgbClr val="262626"/>
              </a:buClr>
            </a:pPr>
            <a:r>
              <a:rPr lang="en-US" dirty="0">
                <a:latin typeface="Lucida Sans"/>
                <a:cs typeface="Arial"/>
              </a:rPr>
              <a:t>User can provide their input through an interface (i.e., Keyboard)</a:t>
            </a:r>
            <a:endParaRPr lang="en-US" dirty="0">
              <a:solidFill>
                <a:srgbClr val="FF0000"/>
              </a:solidFill>
              <a:latin typeface="Lucida Sans"/>
              <a:cs typeface="Arial"/>
            </a:endParaRPr>
          </a:p>
          <a:p>
            <a:pPr marL="1218565" lvl="1" indent="-422910">
              <a:buClr>
                <a:srgbClr val="262626"/>
              </a:buClr>
            </a:pPr>
            <a:endParaRPr lang="en-US" sz="3200" dirty="0">
              <a:latin typeface="Lucida Sans"/>
              <a:cs typeface="Arial"/>
            </a:endParaRPr>
          </a:p>
        </p:txBody>
      </p: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6FC31E75-B8A0-8FFD-CD87-768BDD499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86" y="4001589"/>
            <a:ext cx="5018313" cy="255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38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SECURITY PROBLEMS IN the program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ABF7-0AC5-5684-6D35-169C91B0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763808"/>
            <a:ext cx="11641536" cy="1941096"/>
          </a:xfrm>
        </p:spPr>
        <p:txBody>
          <a:bodyPr/>
          <a:lstStyle/>
          <a:p>
            <a:pPr marL="608965" indent="-456565"/>
            <a:r>
              <a:rPr lang="en-US" sz="2800" dirty="0">
                <a:latin typeface="Lucida Sans"/>
                <a:ea typeface="+mn-lt"/>
                <a:cs typeface="+mn-lt"/>
              </a:rPr>
              <a:t>Threat analysis</a:t>
            </a:r>
          </a:p>
          <a:p>
            <a:pPr marL="608965" indent="-456565">
              <a:buClr>
                <a:srgbClr val="262626"/>
              </a:buClr>
            </a:pPr>
            <a:r>
              <a:rPr lang="en-US" sz="2800" dirty="0">
                <a:latin typeface="Lucida Sans"/>
                <a:cs typeface="Arial"/>
              </a:rPr>
              <a:t>What are the potential risks and their implications?</a:t>
            </a:r>
          </a:p>
          <a:p>
            <a:pPr marL="608965" indent="-456565">
              <a:buClr>
                <a:srgbClr val="262626"/>
              </a:buClr>
            </a:pPr>
            <a:r>
              <a:rPr lang="en-US" sz="2800" dirty="0">
                <a:latin typeface="Lucida Sans"/>
                <a:cs typeface="Arial"/>
              </a:rPr>
              <a:t>How to mitigate the risk?</a:t>
            </a:r>
          </a:p>
          <a:p>
            <a:pPr marL="608965" indent="-456565">
              <a:buClr>
                <a:srgbClr val="262626"/>
              </a:buClr>
            </a:pPr>
            <a:r>
              <a:rPr lang="en-US" sz="2800" dirty="0">
                <a:latin typeface="Lucida Sans"/>
                <a:cs typeface="Arial"/>
              </a:rPr>
              <a:t>Let's try below input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5E29D-03E7-D365-9945-3CDCA5F121B4}"/>
              </a:ext>
            </a:extLst>
          </p:cNvPr>
          <p:cNvSpPr txBox="1"/>
          <p:nvPr/>
        </p:nvSpPr>
        <p:spPr>
          <a:xfrm>
            <a:off x="3502737" y="5923932"/>
            <a:ext cx="51889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Lucida Sans"/>
                <a:cs typeface="Arial"/>
              </a:rPr>
              <a:t>Is it </a:t>
            </a:r>
            <a:r>
              <a:rPr lang="en-US" b="1" dirty="0">
                <a:solidFill>
                  <a:srgbClr val="FF0000"/>
                </a:solidFill>
                <a:latin typeface="Lucida Sans"/>
                <a:cs typeface="Arial"/>
              </a:rPr>
              <a:t>vulnerability</a:t>
            </a:r>
            <a:r>
              <a:rPr lang="en-US" b="1" dirty="0">
                <a:latin typeface="Lucida Sans"/>
                <a:cs typeface="Arial"/>
              </a:rPr>
              <a:t>!!! </a:t>
            </a:r>
          </a:p>
        </p:txBody>
      </p:sp>
      <p:pic>
        <p:nvPicPr>
          <p:cNvPr id="3" name="Picture 5" descr="Text&#10;&#10;Description automatically generated">
            <a:extLst>
              <a:ext uri="{FF2B5EF4-FFF2-40B4-BE49-F238E27FC236}">
                <a16:creationId xmlns:a16="http://schemas.microsoft.com/office/drawing/2014/main" id="{065B7208-9D24-E2CE-4F82-2A7C4D36E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971" y="3631047"/>
            <a:ext cx="8186057" cy="189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207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470868-A33F-F24A-6805-0A5C4762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59" y="799742"/>
            <a:ext cx="10567481" cy="57263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C69D30-C34B-4402-F2AD-2930FE0048DF}"/>
              </a:ext>
            </a:extLst>
          </p:cNvPr>
          <p:cNvSpPr/>
          <p:nvPr/>
        </p:nvSpPr>
        <p:spPr>
          <a:xfrm>
            <a:off x="126460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all the ins.</a:t>
            </a:r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918378B5-B3DA-8FC6-BE34-6E8CAD3137F3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676637" y="491813"/>
            <a:ext cx="431753" cy="39397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2E267-E98C-9D7C-058C-47D32F37CFFA}"/>
              </a:ext>
            </a:extLst>
          </p:cNvPr>
          <p:cNvSpPr/>
          <p:nvPr/>
        </p:nvSpPr>
        <p:spPr>
          <a:xfrm>
            <a:off x="1381327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</a:t>
            </a:r>
            <a:endParaRPr lang="en-US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80BA42A-9FA5-2977-10EA-1254EF66C5E0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1547262" y="501541"/>
            <a:ext cx="431753" cy="374514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A447D-BBE6-CB57-26BC-E690A3812832}"/>
              </a:ext>
            </a:extLst>
          </p:cNvPr>
          <p:cNvSpPr/>
          <p:nvPr/>
        </p:nvSpPr>
        <p:spPr>
          <a:xfrm>
            <a:off x="2636194" y="77821"/>
            <a:ext cx="1099235" cy="63229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 but step over the function </a:t>
            </a:r>
            <a:endParaRPr lang="en-US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E624AD3-A13D-B80E-F87F-3FF7DD062A31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2371119" y="89983"/>
            <a:ext cx="194558" cy="143482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B9D7DE7-623D-7975-0274-62667BF61AE0}"/>
              </a:ext>
            </a:extLst>
          </p:cNvPr>
          <p:cNvSpPr/>
          <p:nvPr/>
        </p:nvSpPr>
        <p:spPr>
          <a:xfrm>
            <a:off x="7603788" y="2862112"/>
            <a:ext cx="3615255" cy="3807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/>
              <a:t>Starting point in C. Instead</a:t>
            </a:r>
            <a:r>
              <a:rPr lang="en-US" sz="1100" dirty="0">
                <a:cs typeface="Arial"/>
              </a:rPr>
              <a:t> of correct input attacker is trying to fit a long input character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DFA8647-E648-A089-2867-522E6CAC1614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8250767" y="2268351"/>
            <a:ext cx="186175" cy="213512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8A8FCA5-D9BC-38A6-E983-016CED451B73}"/>
              </a:ext>
            </a:extLst>
          </p:cNvPr>
          <p:cNvSpPr/>
          <p:nvPr/>
        </p:nvSpPr>
        <p:spPr>
          <a:xfrm>
            <a:off x="3891061" y="190819"/>
            <a:ext cx="1799620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assembly</a:t>
            </a:r>
            <a:endParaRPr lang="en-US" dirty="0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4D0B0D1-6761-D044-7EF8-2A257276030D}"/>
              </a:ext>
            </a:extLst>
          </p:cNvPr>
          <p:cNvCxnSpPr>
            <a:cxnSpLocks/>
            <a:stCxn id="25" idx="2"/>
          </p:cNvCxnSpPr>
          <p:nvPr/>
        </p:nvCxnSpPr>
        <p:spPr>
          <a:xfrm rot="5400000">
            <a:off x="3597369" y="333741"/>
            <a:ext cx="1054323" cy="133268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02840C5-3D03-26BE-FEA4-CC31C32A5235}"/>
              </a:ext>
            </a:extLst>
          </p:cNvPr>
          <p:cNvSpPr/>
          <p:nvPr/>
        </p:nvSpPr>
        <p:spPr>
          <a:xfrm>
            <a:off x="972766" y="1293779"/>
            <a:ext cx="1434830" cy="178988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13E8E6-58BD-8F4B-445D-666C052B3BBC}"/>
              </a:ext>
            </a:extLst>
          </p:cNvPr>
          <p:cNvSpPr/>
          <p:nvPr/>
        </p:nvSpPr>
        <p:spPr>
          <a:xfrm>
            <a:off x="0" y="1405201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Registers</a:t>
            </a:r>
            <a:endParaRPr lang="en-US" dirty="0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2B26EF9-8FC5-C31F-DE3D-DF7CABCC9804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438738" y="1654695"/>
            <a:ext cx="501421" cy="56663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ECD7A8F-E522-8953-FFCF-27BF16D26CA9}"/>
              </a:ext>
            </a:extLst>
          </p:cNvPr>
          <p:cNvSpPr/>
          <p:nvPr/>
        </p:nvSpPr>
        <p:spPr>
          <a:xfrm>
            <a:off x="0" y="2278348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Stack</a:t>
            </a:r>
            <a:endParaRPr lang="en-US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4BEE14C-E6C3-EFC0-092E-CCCADF0D51A2}"/>
              </a:ext>
            </a:extLst>
          </p:cNvPr>
          <p:cNvCxnSpPr>
            <a:cxnSpLocks/>
            <a:stCxn id="41" idx="2"/>
          </p:cNvCxnSpPr>
          <p:nvPr/>
        </p:nvCxnSpPr>
        <p:spPr>
          <a:xfrm rot="16200000" flipH="1">
            <a:off x="639112" y="2327467"/>
            <a:ext cx="217405" cy="68336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7E13CC5-4B8E-12D7-DD20-F9665F46AB35}"/>
              </a:ext>
            </a:extLst>
          </p:cNvPr>
          <p:cNvSpPr/>
          <p:nvPr/>
        </p:nvSpPr>
        <p:spPr>
          <a:xfrm>
            <a:off x="5378584" y="3790545"/>
            <a:ext cx="6001156" cy="273558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092938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470868-A33F-F24A-6805-0A5C4762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59" y="799742"/>
            <a:ext cx="10567481" cy="57263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C69D30-C34B-4402-F2AD-2930FE0048DF}"/>
              </a:ext>
            </a:extLst>
          </p:cNvPr>
          <p:cNvSpPr/>
          <p:nvPr/>
        </p:nvSpPr>
        <p:spPr>
          <a:xfrm>
            <a:off x="126460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all the ins.</a:t>
            </a:r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918378B5-B3DA-8FC6-BE34-6E8CAD3137F3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676637" y="491813"/>
            <a:ext cx="431753" cy="39397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2E267-E98C-9D7C-058C-47D32F37CFFA}"/>
              </a:ext>
            </a:extLst>
          </p:cNvPr>
          <p:cNvSpPr/>
          <p:nvPr/>
        </p:nvSpPr>
        <p:spPr>
          <a:xfrm>
            <a:off x="1381327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</a:t>
            </a:r>
            <a:endParaRPr lang="en-US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80BA42A-9FA5-2977-10EA-1254EF66C5E0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1547262" y="501541"/>
            <a:ext cx="431753" cy="374514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A447D-BBE6-CB57-26BC-E690A3812832}"/>
              </a:ext>
            </a:extLst>
          </p:cNvPr>
          <p:cNvSpPr/>
          <p:nvPr/>
        </p:nvSpPr>
        <p:spPr>
          <a:xfrm>
            <a:off x="2636194" y="77821"/>
            <a:ext cx="1099235" cy="63229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 but step over the function </a:t>
            </a:r>
            <a:endParaRPr lang="en-US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E624AD3-A13D-B80E-F87F-3FF7DD062A31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2371119" y="89983"/>
            <a:ext cx="194558" cy="143482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B9D7DE7-623D-7975-0274-62667BF61AE0}"/>
              </a:ext>
            </a:extLst>
          </p:cNvPr>
          <p:cNvSpPr/>
          <p:nvPr/>
        </p:nvSpPr>
        <p:spPr>
          <a:xfrm>
            <a:off x="7603788" y="2969688"/>
            <a:ext cx="1365114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C</a:t>
            </a:r>
            <a:endParaRPr lang="en-US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DFA8647-E648-A089-2867-522E6CAC1614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7692713" y="2835368"/>
            <a:ext cx="177210" cy="101005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8A8FCA5-D9BC-38A6-E983-016CED451B73}"/>
              </a:ext>
            </a:extLst>
          </p:cNvPr>
          <p:cNvSpPr/>
          <p:nvPr/>
        </p:nvSpPr>
        <p:spPr>
          <a:xfrm>
            <a:off x="3891061" y="190819"/>
            <a:ext cx="1799620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assembly</a:t>
            </a:r>
            <a:endParaRPr lang="en-US" dirty="0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4D0B0D1-6761-D044-7EF8-2A257276030D}"/>
              </a:ext>
            </a:extLst>
          </p:cNvPr>
          <p:cNvCxnSpPr>
            <a:cxnSpLocks/>
            <a:stCxn id="25" idx="2"/>
          </p:cNvCxnSpPr>
          <p:nvPr/>
        </p:nvCxnSpPr>
        <p:spPr>
          <a:xfrm rot="5400000">
            <a:off x="3597369" y="333741"/>
            <a:ext cx="1054323" cy="133268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02840C5-3D03-26BE-FEA4-CC31C32A5235}"/>
              </a:ext>
            </a:extLst>
          </p:cNvPr>
          <p:cNvSpPr/>
          <p:nvPr/>
        </p:nvSpPr>
        <p:spPr>
          <a:xfrm>
            <a:off x="972766" y="1293779"/>
            <a:ext cx="1434830" cy="178988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13E8E6-58BD-8F4B-445D-666C052B3BBC}"/>
              </a:ext>
            </a:extLst>
          </p:cNvPr>
          <p:cNvSpPr/>
          <p:nvPr/>
        </p:nvSpPr>
        <p:spPr>
          <a:xfrm>
            <a:off x="0" y="1405201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Registers</a:t>
            </a:r>
            <a:endParaRPr lang="en-US" dirty="0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2B26EF9-8FC5-C31F-DE3D-DF7CABCC9804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438738" y="1654695"/>
            <a:ext cx="501421" cy="56663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ECD7A8F-E522-8953-FFCF-27BF16D26CA9}"/>
              </a:ext>
            </a:extLst>
          </p:cNvPr>
          <p:cNvSpPr/>
          <p:nvPr/>
        </p:nvSpPr>
        <p:spPr>
          <a:xfrm>
            <a:off x="0" y="2278348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Stack</a:t>
            </a:r>
            <a:endParaRPr lang="en-US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4BEE14C-E6C3-EFC0-092E-CCCADF0D51A2}"/>
              </a:ext>
            </a:extLst>
          </p:cNvPr>
          <p:cNvCxnSpPr>
            <a:cxnSpLocks/>
            <a:stCxn id="41" idx="2"/>
          </p:cNvCxnSpPr>
          <p:nvPr/>
        </p:nvCxnSpPr>
        <p:spPr>
          <a:xfrm rot="16200000" flipH="1">
            <a:off x="639112" y="2327467"/>
            <a:ext cx="217405" cy="68336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7E13CC5-4B8E-12D7-DD20-F9665F46AB35}"/>
              </a:ext>
            </a:extLst>
          </p:cNvPr>
          <p:cNvSpPr/>
          <p:nvPr/>
        </p:nvSpPr>
        <p:spPr>
          <a:xfrm>
            <a:off x="5378584" y="3606211"/>
            <a:ext cx="6001156" cy="291991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25B42B-25A0-0F83-95FE-2828C43D2BE6}"/>
              </a:ext>
            </a:extLst>
          </p:cNvPr>
          <p:cNvSpPr/>
          <p:nvPr/>
        </p:nvSpPr>
        <p:spPr>
          <a:xfrm>
            <a:off x="1750983" y="4414093"/>
            <a:ext cx="3039890" cy="5372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Data Memory region starting from D: 0x00</a:t>
            </a:r>
            <a:endParaRPr lang="en-US" b="1" dirty="0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F20C50C9-1BB3-8B0B-518B-06E072D6888D}"/>
              </a:ext>
            </a:extLst>
          </p:cNvPr>
          <p:cNvCxnSpPr>
            <a:cxnSpLocks/>
            <a:stCxn id="2" idx="2"/>
            <a:endCxn id="47" idx="1"/>
          </p:cNvCxnSpPr>
          <p:nvPr/>
        </p:nvCxnSpPr>
        <p:spPr>
          <a:xfrm rot="16200000" flipH="1">
            <a:off x="4267360" y="3954946"/>
            <a:ext cx="114792" cy="210765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F8BC47-38F3-8617-165E-E296D06AE616}"/>
              </a:ext>
            </a:extLst>
          </p:cNvPr>
          <p:cNvSpPr/>
          <p:nvPr/>
        </p:nvSpPr>
        <p:spPr>
          <a:xfrm>
            <a:off x="5844702" y="3685653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0x00</a:t>
            </a:r>
            <a:endParaRPr lang="en-US" dirty="0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9B6F2EC8-9829-C1B0-4057-681BCE102B70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>
            <a:off x="5926821" y="4052628"/>
            <a:ext cx="254052" cy="843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19B9BB9-B501-F7B6-82FD-CCC4CDEDEB8F}"/>
              </a:ext>
            </a:extLst>
          </p:cNvPr>
          <p:cNvSpPr/>
          <p:nvPr/>
        </p:nvSpPr>
        <p:spPr>
          <a:xfrm>
            <a:off x="6429980" y="3685653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0x01</a:t>
            </a:r>
            <a:endParaRPr lang="en-US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E271E9F9-2FF5-4097-8150-6EFA256E83B6}"/>
              </a:ext>
            </a:extLst>
          </p:cNvPr>
          <p:cNvCxnSpPr>
            <a:cxnSpLocks/>
            <a:stCxn id="19" idx="2"/>
          </p:cNvCxnSpPr>
          <p:nvPr/>
        </p:nvCxnSpPr>
        <p:spPr>
          <a:xfrm rot="5400000">
            <a:off x="6319979" y="3860508"/>
            <a:ext cx="254052" cy="46854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74E0D29-89B7-C1D4-8424-5738BFC013A3}"/>
              </a:ext>
            </a:extLst>
          </p:cNvPr>
          <p:cNvSpPr/>
          <p:nvPr/>
        </p:nvSpPr>
        <p:spPr>
          <a:xfrm>
            <a:off x="7010401" y="3685653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0x06</a:t>
            </a:r>
            <a:endParaRPr lang="en-US" dirty="0"/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30448FF-798E-4A98-F000-65A0E0E61A41}"/>
              </a:ext>
            </a:extLst>
          </p:cNvPr>
          <p:cNvCxnSpPr>
            <a:cxnSpLocks/>
            <a:stCxn id="28" idx="2"/>
          </p:cNvCxnSpPr>
          <p:nvPr/>
        </p:nvCxnSpPr>
        <p:spPr>
          <a:xfrm rot="5400000">
            <a:off x="7028476" y="3988586"/>
            <a:ext cx="254055" cy="2123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8C892DB-EC51-0DA8-9AD7-588CF4E6C095}"/>
              </a:ext>
            </a:extLst>
          </p:cNvPr>
          <p:cNvSpPr/>
          <p:nvPr/>
        </p:nvSpPr>
        <p:spPr>
          <a:xfrm>
            <a:off x="7607026" y="3685652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0x0A</a:t>
            </a:r>
            <a:endParaRPr lang="en-US" dirty="0"/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383EB31F-8AB8-684C-8EBC-A73036CA9E75}"/>
              </a:ext>
            </a:extLst>
          </p:cNvPr>
          <p:cNvCxnSpPr>
            <a:cxnSpLocks/>
            <a:stCxn id="31" idx="2"/>
          </p:cNvCxnSpPr>
          <p:nvPr/>
        </p:nvCxnSpPr>
        <p:spPr>
          <a:xfrm rot="5400000">
            <a:off x="7674553" y="4038037"/>
            <a:ext cx="254054" cy="11348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FDA4810-0337-578F-FCA9-AC6EB08873A9}"/>
              </a:ext>
            </a:extLst>
          </p:cNvPr>
          <p:cNvSpPr/>
          <p:nvPr/>
        </p:nvSpPr>
        <p:spPr>
          <a:xfrm>
            <a:off x="8818124" y="3685652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0x10</a:t>
            </a:r>
            <a:endParaRPr lang="en-US" dirty="0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D0BC0C46-9F90-C232-F9E8-CF6321AAAD0C}"/>
              </a:ext>
            </a:extLst>
          </p:cNvPr>
          <p:cNvCxnSpPr>
            <a:cxnSpLocks/>
            <a:stCxn id="34" idx="2"/>
          </p:cNvCxnSpPr>
          <p:nvPr/>
        </p:nvCxnSpPr>
        <p:spPr>
          <a:xfrm rot="5400000">
            <a:off x="8794047" y="3946433"/>
            <a:ext cx="254055" cy="29669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41DF1E1-E20D-6A26-2AA3-893037D3B31B}"/>
              </a:ext>
            </a:extLst>
          </p:cNvPr>
          <p:cNvSpPr/>
          <p:nvPr/>
        </p:nvSpPr>
        <p:spPr>
          <a:xfrm>
            <a:off x="8218252" y="3685652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0x0F</a:t>
            </a:r>
            <a:endParaRPr lang="en-US" dirty="0"/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428218CA-CD35-EAFA-B53A-B489A8A44CB7}"/>
              </a:ext>
            </a:extLst>
          </p:cNvPr>
          <p:cNvCxnSpPr>
            <a:cxnSpLocks/>
            <a:stCxn id="40" idx="2"/>
          </p:cNvCxnSpPr>
          <p:nvPr/>
        </p:nvCxnSpPr>
        <p:spPr>
          <a:xfrm rot="16200000" flipH="1">
            <a:off x="8391162" y="4046142"/>
            <a:ext cx="254054" cy="9727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C9A7302-D258-C10D-4760-6C81E4E5C5D8}"/>
              </a:ext>
            </a:extLst>
          </p:cNvPr>
          <p:cNvSpPr/>
          <p:nvPr/>
        </p:nvSpPr>
        <p:spPr>
          <a:xfrm>
            <a:off x="8266891" y="4669275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0x0F</a:t>
            </a:r>
            <a:endParaRPr lang="en-US" dirty="0"/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35B1C3BF-3AD6-4A45-3EF6-E4EC986EEFBB}"/>
              </a:ext>
            </a:extLst>
          </p:cNvPr>
          <p:cNvCxnSpPr>
            <a:cxnSpLocks/>
            <a:stCxn id="45" idx="0"/>
          </p:cNvCxnSpPr>
          <p:nvPr/>
        </p:nvCxnSpPr>
        <p:spPr>
          <a:xfrm rot="5400000" flipH="1" flipV="1">
            <a:off x="8407380" y="4509828"/>
            <a:ext cx="270256" cy="486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4C4FAFF-E26C-6F8A-4834-2B808C6F9107}"/>
              </a:ext>
            </a:extLst>
          </p:cNvPr>
          <p:cNvSpPr/>
          <p:nvPr/>
        </p:nvSpPr>
        <p:spPr>
          <a:xfrm>
            <a:off x="8469549" y="4297551"/>
            <a:ext cx="168613" cy="1014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14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470868-A33F-F24A-6805-0A5C4762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59" y="799742"/>
            <a:ext cx="10567481" cy="57263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C69D30-C34B-4402-F2AD-2930FE0048DF}"/>
              </a:ext>
            </a:extLst>
          </p:cNvPr>
          <p:cNvSpPr/>
          <p:nvPr/>
        </p:nvSpPr>
        <p:spPr>
          <a:xfrm>
            <a:off x="126460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all the ins.</a:t>
            </a:r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918378B5-B3DA-8FC6-BE34-6E8CAD3137F3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676637" y="491813"/>
            <a:ext cx="431753" cy="39397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2E267-E98C-9D7C-058C-47D32F37CFFA}"/>
              </a:ext>
            </a:extLst>
          </p:cNvPr>
          <p:cNvSpPr/>
          <p:nvPr/>
        </p:nvSpPr>
        <p:spPr>
          <a:xfrm>
            <a:off x="1381327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</a:t>
            </a:r>
            <a:endParaRPr lang="en-US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80BA42A-9FA5-2977-10EA-1254EF66C5E0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1547262" y="501541"/>
            <a:ext cx="431753" cy="374514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A447D-BBE6-CB57-26BC-E690A3812832}"/>
              </a:ext>
            </a:extLst>
          </p:cNvPr>
          <p:cNvSpPr/>
          <p:nvPr/>
        </p:nvSpPr>
        <p:spPr>
          <a:xfrm>
            <a:off x="2636194" y="77821"/>
            <a:ext cx="1099235" cy="63229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 but step over the function </a:t>
            </a:r>
            <a:endParaRPr lang="en-US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E624AD3-A13D-B80E-F87F-3FF7DD062A31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2371119" y="89983"/>
            <a:ext cx="194558" cy="143482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B9D7DE7-623D-7975-0274-62667BF61AE0}"/>
              </a:ext>
            </a:extLst>
          </p:cNvPr>
          <p:cNvSpPr/>
          <p:nvPr/>
        </p:nvSpPr>
        <p:spPr>
          <a:xfrm>
            <a:off x="7603788" y="2969688"/>
            <a:ext cx="1365114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C</a:t>
            </a:r>
            <a:endParaRPr lang="en-US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DFA8647-E648-A089-2867-522E6CAC1614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7692713" y="2835368"/>
            <a:ext cx="177210" cy="101005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8A8FCA5-D9BC-38A6-E983-016CED451B73}"/>
              </a:ext>
            </a:extLst>
          </p:cNvPr>
          <p:cNvSpPr/>
          <p:nvPr/>
        </p:nvSpPr>
        <p:spPr>
          <a:xfrm>
            <a:off x="3891061" y="190819"/>
            <a:ext cx="1799620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assembly</a:t>
            </a:r>
            <a:endParaRPr lang="en-US" dirty="0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4D0B0D1-6761-D044-7EF8-2A257276030D}"/>
              </a:ext>
            </a:extLst>
          </p:cNvPr>
          <p:cNvCxnSpPr>
            <a:cxnSpLocks/>
            <a:stCxn id="25" idx="2"/>
          </p:cNvCxnSpPr>
          <p:nvPr/>
        </p:nvCxnSpPr>
        <p:spPr>
          <a:xfrm rot="5400000">
            <a:off x="3597369" y="333741"/>
            <a:ext cx="1054323" cy="133268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02840C5-3D03-26BE-FEA4-CC31C32A5235}"/>
              </a:ext>
            </a:extLst>
          </p:cNvPr>
          <p:cNvSpPr/>
          <p:nvPr/>
        </p:nvSpPr>
        <p:spPr>
          <a:xfrm>
            <a:off x="972766" y="1293779"/>
            <a:ext cx="1434830" cy="178988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13E8E6-58BD-8F4B-445D-666C052B3BBC}"/>
              </a:ext>
            </a:extLst>
          </p:cNvPr>
          <p:cNvSpPr/>
          <p:nvPr/>
        </p:nvSpPr>
        <p:spPr>
          <a:xfrm>
            <a:off x="0" y="1405201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Registers</a:t>
            </a:r>
            <a:endParaRPr lang="en-US" dirty="0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2B26EF9-8FC5-C31F-DE3D-DF7CABCC9804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438738" y="1654695"/>
            <a:ext cx="501421" cy="56663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ECD7A8F-E522-8953-FFCF-27BF16D26CA9}"/>
              </a:ext>
            </a:extLst>
          </p:cNvPr>
          <p:cNvSpPr/>
          <p:nvPr/>
        </p:nvSpPr>
        <p:spPr>
          <a:xfrm>
            <a:off x="0" y="2278348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Stack</a:t>
            </a:r>
            <a:endParaRPr lang="en-US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4BEE14C-E6C3-EFC0-092E-CCCADF0D51A2}"/>
              </a:ext>
            </a:extLst>
          </p:cNvPr>
          <p:cNvCxnSpPr>
            <a:cxnSpLocks/>
            <a:stCxn id="41" idx="2"/>
          </p:cNvCxnSpPr>
          <p:nvPr/>
        </p:nvCxnSpPr>
        <p:spPr>
          <a:xfrm rot="16200000" flipH="1">
            <a:off x="639112" y="2327467"/>
            <a:ext cx="217405" cy="68336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7E13CC5-4B8E-12D7-DD20-F9665F46AB35}"/>
              </a:ext>
            </a:extLst>
          </p:cNvPr>
          <p:cNvSpPr/>
          <p:nvPr/>
        </p:nvSpPr>
        <p:spPr>
          <a:xfrm>
            <a:off x="5378584" y="3606211"/>
            <a:ext cx="6001156" cy="291991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25B42B-25A0-0F83-95FE-2828C43D2BE6}"/>
              </a:ext>
            </a:extLst>
          </p:cNvPr>
          <p:cNvSpPr/>
          <p:nvPr/>
        </p:nvSpPr>
        <p:spPr>
          <a:xfrm>
            <a:off x="1750983" y="4414093"/>
            <a:ext cx="3039890" cy="5372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Data Memory region starting from D: 0x00</a:t>
            </a:r>
            <a:endParaRPr lang="en-US" b="1" dirty="0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F20C50C9-1BB3-8B0B-518B-06E072D6888D}"/>
              </a:ext>
            </a:extLst>
          </p:cNvPr>
          <p:cNvCxnSpPr>
            <a:cxnSpLocks/>
            <a:stCxn id="2" idx="2"/>
            <a:endCxn id="47" idx="1"/>
          </p:cNvCxnSpPr>
          <p:nvPr/>
        </p:nvCxnSpPr>
        <p:spPr>
          <a:xfrm rot="16200000" flipH="1">
            <a:off x="4267360" y="3954946"/>
            <a:ext cx="114792" cy="210765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19B9BB9-B501-F7B6-82FD-CCC4CDEDEB8F}"/>
              </a:ext>
            </a:extLst>
          </p:cNvPr>
          <p:cNvSpPr/>
          <p:nvPr/>
        </p:nvSpPr>
        <p:spPr>
          <a:xfrm>
            <a:off x="8584898" y="3658766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Secret 1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E271E9F9-2FF5-4097-8150-6EFA256E83B6}"/>
              </a:ext>
            </a:extLst>
          </p:cNvPr>
          <p:cNvCxnSpPr>
            <a:cxnSpLocks/>
            <a:stCxn id="19" idx="2"/>
          </p:cNvCxnSpPr>
          <p:nvPr/>
        </p:nvCxnSpPr>
        <p:spPr>
          <a:xfrm rot="5400000">
            <a:off x="8470127" y="3901621"/>
            <a:ext cx="326822" cy="40531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74E0D29-89B7-C1D4-8424-5738BFC013A3}"/>
              </a:ext>
            </a:extLst>
          </p:cNvPr>
          <p:cNvSpPr/>
          <p:nvPr/>
        </p:nvSpPr>
        <p:spPr>
          <a:xfrm>
            <a:off x="9177138" y="3685652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Secret 2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30448FF-798E-4A98-F000-65A0E0E61A41}"/>
              </a:ext>
            </a:extLst>
          </p:cNvPr>
          <p:cNvCxnSpPr>
            <a:cxnSpLocks/>
            <a:stCxn id="28" idx="2"/>
          </p:cNvCxnSpPr>
          <p:nvPr/>
        </p:nvCxnSpPr>
        <p:spPr>
          <a:xfrm rot="5400000">
            <a:off x="9195213" y="3988585"/>
            <a:ext cx="254055" cy="2123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8C892DB-EC51-0DA8-9AD7-588CF4E6C095}"/>
              </a:ext>
            </a:extLst>
          </p:cNvPr>
          <p:cNvSpPr/>
          <p:nvPr/>
        </p:nvSpPr>
        <p:spPr>
          <a:xfrm>
            <a:off x="9921003" y="3685652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Secret 3</a:t>
            </a:r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383EB31F-8AB8-684C-8EBC-A73036CA9E75}"/>
              </a:ext>
            </a:extLst>
          </p:cNvPr>
          <p:cNvCxnSpPr>
            <a:cxnSpLocks/>
            <a:stCxn id="31" idx="2"/>
          </p:cNvCxnSpPr>
          <p:nvPr/>
        </p:nvCxnSpPr>
        <p:spPr>
          <a:xfrm rot="5400000">
            <a:off x="9988530" y="4038037"/>
            <a:ext cx="254054" cy="11348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FDA4810-0337-578F-FCA9-AC6EB08873A9}"/>
              </a:ext>
            </a:extLst>
          </p:cNvPr>
          <p:cNvSpPr/>
          <p:nvPr/>
        </p:nvSpPr>
        <p:spPr>
          <a:xfrm>
            <a:off x="4539574" y="5170698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Secret 5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D0BC0C46-9F90-C232-F9E8-CF6321AAAD0C}"/>
              </a:ext>
            </a:extLst>
          </p:cNvPr>
          <p:cNvCxnSpPr>
            <a:cxnSpLocks/>
            <a:stCxn id="34" idx="2"/>
          </p:cNvCxnSpPr>
          <p:nvPr/>
        </p:nvCxnSpPr>
        <p:spPr>
          <a:xfrm rot="5400000" flipH="1" flipV="1">
            <a:off x="4994327" y="4150830"/>
            <a:ext cx="1098514" cy="1505425"/>
          </a:xfrm>
          <a:prstGeom prst="curvedConnector4">
            <a:avLst>
              <a:gd name="adj1" fmla="val -20810"/>
              <a:gd name="adj2" fmla="val 5834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41DF1E1-E20D-6A26-2AA3-893037D3B31B}"/>
              </a:ext>
            </a:extLst>
          </p:cNvPr>
          <p:cNvSpPr/>
          <p:nvPr/>
        </p:nvSpPr>
        <p:spPr>
          <a:xfrm>
            <a:off x="10552150" y="3685652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Secret 4</a:t>
            </a:r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428218CA-CD35-EAFA-B53A-B489A8A44CB7}"/>
              </a:ext>
            </a:extLst>
          </p:cNvPr>
          <p:cNvCxnSpPr>
            <a:cxnSpLocks/>
            <a:stCxn id="40" idx="2"/>
          </p:cNvCxnSpPr>
          <p:nvPr/>
        </p:nvCxnSpPr>
        <p:spPr>
          <a:xfrm rot="16200000" flipH="1">
            <a:off x="10725060" y="4046142"/>
            <a:ext cx="254054" cy="9727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C9A7302-D258-C10D-4760-6C81E4E5C5D8}"/>
              </a:ext>
            </a:extLst>
          </p:cNvPr>
          <p:cNvSpPr/>
          <p:nvPr/>
        </p:nvSpPr>
        <p:spPr>
          <a:xfrm>
            <a:off x="8266891" y="4669275"/>
            <a:ext cx="502595" cy="2821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0x0F</a:t>
            </a:r>
            <a:endParaRPr lang="en-US" dirty="0"/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35B1C3BF-3AD6-4A45-3EF6-E4EC986EEFBB}"/>
              </a:ext>
            </a:extLst>
          </p:cNvPr>
          <p:cNvCxnSpPr>
            <a:cxnSpLocks/>
            <a:stCxn id="45" idx="0"/>
          </p:cNvCxnSpPr>
          <p:nvPr/>
        </p:nvCxnSpPr>
        <p:spPr>
          <a:xfrm rot="5400000" flipH="1" flipV="1">
            <a:off x="8407380" y="4509828"/>
            <a:ext cx="270256" cy="486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4C4FAFF-E26C-6F8A-4834-2B808C6F9107}"/>
              </a:ext>
            </a:extLst>
          </p:cNvPr>
          <p:cNvSpPr/>
          <p:nvPr/>
        </p:nvSpPr>
        <p:spPr>
          <a:xfrm>
            <a:off x="8469549" y="4297551"/>
            <a:ext cx="168613" cy="1014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1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470868-A33F-F24A-6805-0A5C4762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59" y="799742"/>
            <a:ext cx="10567481" cy="57263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C69D30-C34B-4402-F2AD-2930FE0048DF}"/>
              </a:ext>
            </a:extLst>
          </p:cNvPr>
          <p:cNvSpPr/>
          <p:nvPr/>
        </p:nvSpPr>
        <p:spPr>
          <a:xfrm>
            <a:off x="126460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all the ins.</a:t>
            </a:r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918378B5-B3DA-8FC6-BE34-6E8CAD3137F3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676637" y="491813"/>
            <a:ext cx="431753" cy="39397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2E267-E98C-9D7C-058C-47D32F37CFFA}"/>
              </a:ext>
            </a:extLst>
          </p:cNvPr>
          <p:cNvSpPr/>
          <p:nvPr/>
        </p:nvSpPr>
        <p:spPr>
          <a:xfrm>
            <a:off x="1381327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</a:t>
            </a:r>
            <a:endParaRPr lang="en-US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80BA42A-9FA5-2977-10EA-1254EF66C5E0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1547262" y="501541"/>
            <a:ext cx="431753" cy="374514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A447D-BBE6-CB57-26BC-E690A3812832}"/>
              </a:ext>
            </a:extLst>
          </p:cNvPr>
          <p:cNvSpPr/>
          <p:nvPr/>
        </p:nvSpPr>
        <p:spPr>
          <a:xfrm>
            <a:off x="2636194" y="77821"/>
            <a:ext cx="1099235" cy="63229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 but step over the function </a:t>
            </a:r>
            <a:endParaRPr lang="en-US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E624AD3-A13D-B80E-F87F-3FF7DD062A31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2371119" y="89983"/>
            <a:ext cx="194558" cy="143482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B9D7DE7-623D-7975-0274-62667BF61AE0}"/>
              </a:ext>
            </a:extLst>
          </p:cNvPr>
          <p:cNvSpPr/>
          <p:nvPr/>
        </p:nvSpPr>
        <p:spPr>
          <a:xfrm>
            <a:off x="7603788" y="2969688"/>
            <a:ext cx="1365114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C</a:t>
            </a:r>
            <a:endParaRPr lang="en-US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DFA8647-E648-A089-2867-522E6CAC1614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7692713" y="2835368"/>
            <a:ext cx="177210" cy="101005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8A8FCA5-D9BC-38A6-E983-016CED451B73}"/>
              </a:ext>
            </a:extLst>
          </p:cNvPr>
          <p:cNvSpPr/>
          <p:nvPr/>
        </p:nvSpPr>
        <p:spPr>
          <a:xfrm>
            <a:off x="3891061" y="190819"/>
            <a:ext cx="1799620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assembly</a:t>
            </a:r>
            <a:endParaRPr lang="en-US" dirty="0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4D0B0D1-6761-D044-7EF8-2A257276030D}"/>
              </a:ext>
            </a:extLst>
          </p:cNvPr>
          <p:cNvCxnSpPr>
            <a:cxnSpLocks/>
            <a:stCxn id="25" idx="2"/>
          </p:cNvCxnSpPr>
          <p:nvPr/>
        </p:nvCxnSpPr>
        <p:spPr>
          <a:xfrm rot="5400000">
            <a:off x="3597369" y="333741"/>
            <a:ext cx="1054323" cy="133268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02840C5-3D03-26BE-FEA4-CC31C32A5235}"/>
              </a:ext>
            </a:extLst>
          </p:cNvPr>
          <p:cNvSpPr/>
          <p:nvPr/>
        </p:nvSpPr>
        <p:spPr>
          <a:xfrm>
            <a:off x="972766" y="1293779"/>
            <a:ext cx="1434830" cy="178988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13E8E6-58BD-8F4B-445D-666C052B3BBC}"/>
              </a:ext>
            </a:extLst>
          </p:cNvPr>
          <p:cNvSpPr/>
          <p:nvPr/>
        </p:nvSpPr>
        <p:spPr>
          <a:xfrm>
            <a:off x="0" y="1405201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Registers</a:t>
            </a:r>
            <a:endParaRPr lang="en-US" dirty="0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2B26EF9-8FC5-C31F-DE3D-DF7CABCC9804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438738" y="1654695"/>
            <a:ext cx="501421" cy="56663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ECD7A8F-E522-8953-FFCF-27BF16D26CA9}"/>
              </a:ext>
            </a:extLst>
          </p:cNvPr>
          <p:cNvSpPr/>
          <p:nvPr/>
        </p:nvSpPr>
        <p:spPr>
          <a:xfrm>
            <a:off x="0" y="2278348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Stack</a:t>
            </a:r>
            <a:endParaRPr lang="en-US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4BEE14C-E6C3-EFC0-092E-CCCADF0D51A2}"/>
              </a:ext>
            </a:extLst>
          </p:cNvPr>
          <p:cNvCxnSpPr>
            <a:cxnSpLocks/>
            <a:stCxn id="41" idx="2"/>
          </p:cNvCxnSpPr>
          <p:nvPr/>
        </p:nvCxnSpPr>
        <p:spPr>
          <a:xfrm rot="16200000" flipH="1">
            <a:off x="639112" y="2327467"/>
            <a:ext cx="217405" cy="68336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7E13CC5-4B8E-12D7-DD20-F9665F46AB35}"/>
              </a:ext>
            </a:extLst>
          </p:cNvPr>
          <p:cNvSpPr/>
          <p:nvPr/>
        </p:nvSpPr>
        <p:spPr>
          <a:xfrm>
            <a:off x="5378584" y="3790545"/>
            <a:ext cx="6001156" cy="273558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9F647-9FE3-9BA7-792F-A703075F7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933" y="3811990"/>
            <a:ext cx="5974807" cy="27141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BCBDA8-B50F-1286-A09D-96CA3C1DA366}"/>
              </a:ext>
            </a:extLst>
          </p:cNvPr>
          <p:cNvSpPr/>
          <p:nvPr/>
        </p:nvSpPr>
        <p:spPr>
          <a:xfrm>
            <a:off x="1877439" y="4414093"/>
            <a:ext cx="3005846" cy="5372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Code Memory region starting from </a:t>
            </a:r>
          </a:p>
          <a:p>
            <a:pPr algn="ctr"/>
            <a:r>
              <a:rPr lang="en-US" sz="1100" b="1" dirty="0"/>
              <a:t>C:0x0000</a:t>
            </a:r>
            <a:endParaRPr lang="en-US" b="1" dirty="0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8CDAEFB3-CE14-8884-FE7E-0A3B8923C07E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322077" y="4009663"/>
            <a:ext cx="114792" cy="199822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282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B4488-A71C-C5A7-7364-165DB9A58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3" y="810425"/>
            <a:ext cx="11789924" cy="54220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5D2F81-B6E2-AFBC-870A-5963A43066AF}"/>
              </a:ext>
            </a:extLst>
          </p:cNvPr>
          <p:cNvSpPr/>
          <p:nvPr/>
        </p:nvSpPr>
        <p:spPr>
          <a:xfrm>
            <a:off x="3599234" y="204281"/>
            <a:ext cx="4902741" cy="421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Vulnerable program inside Code region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CC05DF-0F44-E8B6-AC74-6A1CF6FC27E4}"/>
              </a:ext>
            </a:extLst>
          </p:cNvPr>
          <p:cNvSpPr/>
          <p:nvPr/>
        </p:nvSpPr>
        <p:spPr>
          <a:xfrm>
            <a:off x="3644629" y="6310009"/>
            <a:ext cx="4902741" cy="421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see any familiar pattern?</a:t>
            </a:r>
          </a:p>
        </p:txBody>
      </p:sp>
    </p:spTree>
    <p:extLst>
      <p:ext uri="{BB962C8B-B14F-4D97-AF65-F5344CB8AC3E}">
        <p14:creationId xmlns:p14="http://schemas.microsoft.com/office/powerpoint/2010/main" val="2531315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B4488-A71C-C5A7-7364-165DB9A58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3" y="810425"/>
            <a:ext cx="11789924" cy="54220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5D2F81-B6E2-AFBC-870A-5963A43066AF}"/>
              </a:ext>
            </a:extLst>
          </p:cNvPr>
          <p:cNvSpPr/>
          <p:nvPr/>
        </p:nvSpPr>
        <p:spPr>
          <a:xfrm>
            <a:off x="3599234" y="204281"/>
            <a:ext cx="4902741" cy="421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Vulnerable program inside Code region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CC05DF-0F44-E8B6-AC74-6A1CF6FC27E4}"/>
              </a:ext>
            </a:extLst>
          </p:cNvPr>
          <p:cNvSpPr/>
          <p:nvPr/>
        </p:nvSpPr>
        <p:spPr>
          <a:xfrm>
            <a:off x="3644629" y="6310009"/>
            <a:ext cx="4902741" cy="421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see any familiar pattern?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83375-28E6-9099-FA01-886C8D884260}"/>
              </a:ext>
            </a:extLst>
          </p:cNvPr>
          <p:cNvSpPr/>
          <p:nvPr/>
        </p:nvSpPr>
        <p:spPr>
          <a:xfrm>
            <a:off x="6167336" y="5223753"/>
            <a:ext cx="3346315" cy="19455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01447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B4488-A71C-C5A7-7364-165DB9A58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3" y="810425"/>
            <a:ext cx="11789924" cy="54220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5D2F81-B6E2-AFBC-870A-5963A43066AF}"/>
              </a:ext>
            </a:extLst>
          </p:cNvPr>
          <p:cNvSpPr/>
          <p:nvPr/>
        </p:nvSpPr>
        <p:spPr>
          <a:xfrm>
            <a:off x="3599234" y="204281"/>
            <a:ext cx="4902741" cy="421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Vulnerable program inside Code region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CC05DF-0F44-E8B6-AC74-6A1CF6FC27E4}"/>
              </a:ext>
            </a:extLst>
          </p:cNvPr>
          <p:cNvSpPr/>
          <p:nvPr/>
        </p:nvSpPr>
        <p:spPr>
          <a:xfrm>
            <a:off x="3644629" y="6310009"/>
            <a:ext cx="4902741" cy="4212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see any familiar pattern?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83375-28E6-9099-FA01-886C8D884260}"/>
              </a:ext>
            </a:extLst>
          </p:cNvPr>
          <p:cNvSpPr/>
          <p:nvPr/>
        </p:nvSpPr>
        <p:spPr>
          <a:xfrm>
            <a:off x="6167336" y="5223753"/>
            <a:ext cx="3346315" cy="19455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rgbClr val="FF0000"/>
                </a:solidFill>
              </a:ln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648B13-350A-F89D-B05D-82A8CE550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43" y="1189956"/>
            <a:ext cx="11697489" cy="36446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84865FA-85BE-4096-B645-36B7D8D51957}"/>
              </a:ext>
            </a:extLst>
          </p:cNvPr>
          <p:cNvSpPr/>
          <p:nvPr/>
        </p:nvSpPr>
        <p:spPr>
          <a:xfrm>
            <a:off x="155643" y="1835285"/>
            <a:ext cx="4036978" cy="20752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rgbClr val="FF0000"/>
                </a:solidFill>
              </a:ln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F305ABD8-1D4C-0BDE-D8E6-39D084CF091D}"/>
              </a:ext>
            </a:extLst>
          </p:cNvPr>
          <p:cNvCxnSpPr>
            <a:stCxn id="2" idx="0"/>
            <a:endCxn id="8" idx="2"/>
          </p:cNvCxnSpPr>
          <p:nvPr/>
        </p:nvCxnSpPr>
        <p:spPr>
          <a:xfrm rot="16200000" flipV="1">
            <a:off x="3416841" y="800100"/>
            <a:ext cx="3180944" cy="5666362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494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470868-A33F-F24A-6805-0A5C4762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59" y="799742"/>
            <a:ext cx="10567481" cy="57263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C69D30-C34B-4402-F2AD-2930FE0048DF}"/>
              </a:ext>
            </a:extLst>
          </p:cNvPr>
          <p:cNvSpPr/>
          <p:nvPr/>
        </p:nvSpPr>
        <p:spPr>
          <a:xfrm>
            <a:off x="126460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all the ins.</a:t>
            </a:r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918378B5-B3DA-8FC6-BE34-6E8CAD3137F3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676637" y="491813"/>
            <a:ext cx="431753" cy="39397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2E267-E98C-9D7C-058C-47D32F37CFFA}"/>
              </a:ext>
            </a:extLst>
          </p:cNvPr>
          <p:cNvSpPr/>
          <p:nvPr/>
        </p:nvSpPr>
        <p:spPr>
          <a:xfrm>
            <a:off x="1381327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</a:t>
            </a:r>
            <a:endParaRPr lang="en-US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80BA42A-9FA5-2977-10EA-1254EF66C5E0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1547262" y="501541"/>
            <a:ext cx="431753" cy="374514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A447D-BBE6-CB57-26BC-E690A3812832}"/>
              </a:ext>
            </a:extLst>
          </p:cNvPr>
          <p:cNvSpPr/>
          <p:nvPr/>
        </p:nvSpPr>
        <p:spPr>
          <a:xfrm>
            <a:off x="2636194" y="77821"/>
            <a:ext cx="1099235" cy="63229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 but step over the function </a:t>
            </a:r>
            <a:endParaRPr lang="en-US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E624AD3-A13D-B80E-F87F-3FF7DD062A31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2371119" y="89983"/>
            <a:ext cx="194558" cy="143482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B9D7DE7-623D-7975-0274-62667BF61AE0}"/>
              </a:ext>
            </a:extLst>
          </p:cNvPr>
          <p:cNvSpPr/>
          <p:nvPr/>
        </p:nvSpPr>
        <p:spPr>
          <a:xfrm>
            <a:off x="7603788" y="2969688"/>
            <a:ext cx="1365114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C</a:t>
            </a:r>
            <a:endParaRPr lang="en-US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DFA8647-E648-A089-2867-522E6CAC1614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7692713" y="2835368"/>
            <a:ext cx="177210" cy="101005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8A8FCA5-D9BC-38A6-E983-016CED451B73}"/>
              </a:ext>
            </a:extLst>
          </p:cNvPr>
          <p:cNvSpPr/>
          <p:nvPr/>
        </p:nvSpPr>
        <p:spPr>
          <a:xfrm>
            <a:off x="3891061" y="190819"/>
            <a:ext cx="1799620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assembly</a:t>
            </a:r>
            <a:endParaRPr lang="en-US" dirty="0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4D0B0D1-6761-D044-7EF8-2A257276030D}"/>
              </a:ext>
            </a:extLst>
          </p:cNvPr>
          <p:cNvCxnSpPr>
            <a:cxnSpLocks/>
            <a:stCxn id="25" idx="2"/>
          </p:cNvCxnSpPr>
          <p:nvPr/>
        </p:nvCxnSpPr>
        <p:spPr>
          <a:xfrm rot="5400000">
            <a:off x="3597369" y="333741"/>
            <a:ext cx="1054323" cy="133268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02840C5-3D03-26BE-FEA4-CC31C32A5235}"/>
              </a:ext>
            </a:extLst>
          </p:cNvPr>
          <p:cNvSpPr/>
          <p:nvPr/>
        </p:nvSpPr>
        <p:spPr>
          <a:xfrm>
            <a:off x="972766" y="1293779"/>
            <a:ext cx="1434830" cy="178988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13E8E6-58BD-8F4B-445D-666C052B3BBC}"/>
              </a:ext>
            </a:extLst>
          </p:cNvPr>
          <p:cNvSpPr/>
          <p:nvPr/>
        </p:nvSpPr>
        <p:spPr>
          <a:xfrm>
            <a:off x="0" y="1405201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Registers</a:t>
            </a:r>
            <a:endParaRPr lang="en-US" dirty="0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2B26EF9-8FC5-C31F-DE3D-DF7CABCC9804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438738" y="1654695"/>
            <a:ext cx="501421" cy="56663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ECD7A8F-E522-8953-FFCF-27BF16D26CA9}"/>
              </a:ext>
            </a:extLst>
          </p:cNvPr>
          <p:cNvSpPr/>
          <p:nvPr/>
        </p:nvSpPr>
        <p:spPr>
          <a:xfrm>
            <a:off x="0" y="2278348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Stack</a:t>
            </a:r>
            <a:endParaRPr lang="en-US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4BEE14C-E6C3-EFC0-092E-CCCADF0D51A2}"/>
              </a:ext>
            </a:extLst>
          </p:cNvPr>
          <p:cNvCxnSpPr>
            <a:cxnSpLocks/>
            <a:stCxn id="41" idx="2"/>
          </p:cNvCxnSpPr>
          <p:nvPr/>
        </p:nvCxnSpPr>
        <p:spPr>
          <a:xfrm rot="16200000" flipH="1">
            <a:off x="639112" y="2327467"/>
            <a:ext cx="217405" cy="68336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7E13CC5-4B8E-12D7-DD20-F9665F46AB35}"/>
              </a:ext>
            </a:extLst>
          </p:cNvPr>
          <p:cNvSpPr/>
          <p:nvPr/>
        </p:nvSpPr>
        <p:spPr>
          <a:xfrm>
            <a:off x="5378584" y="3790545"/>
            <a:ext cx="6001156" cy="273558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9F647-9FE3-9BA7-792F-A703075F7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933" y="3811990"/>
            <a:ext cx="5974807" cy="27141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BCBDA8-B50F-1286-A09D-96CA3C1DA366}"/>
              </a:ext>
            </a:extLst>
          </p:cNvPr>
          <p:cNvSpPr/>
          <p:nvPr/>
        </p:nvSpPr>
        <p:spPr>
          <a:xfrm>
            <a:off x="1877439" y="4414093"/>
            <a:ext cx="3005846" cy="5372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Code Memory region starting from </a:t>
            </a:r>
          </a:p>
          <a:p>
            <a:pPr algn="ctr"/>
            <a:r>
              <a:rPr lang="en-US" sz="1100" b="1" dirty="0"/>
              <a:t>C:0x0000</a:t>
            </a:r>
            <a:endParaRPr lang="en-US" b="1" dirty="0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8CDAEFB3-CE14-8884-FE7E-0A3B8923C07E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322077" y="4009663"/>
            <a:ext cx="114792" cy="199822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5239E3-FD32-403F-9FD1-D34961608886}"/>
              </a:ext>
            </a:extLst>
          </p:cNvPr>
          <p:cNvSpPr/>
          <p:nvPr/>
        </p:nvSpPr>
        <p:spPr>
          <a:xfrm>
            <a:off x="3617878" y="1379655"/>
            <a:ext cx="4105883" cy="474410"/>
          </a:xfrm>
          <a:custGeom>
            <a:avLst/>
            <a:gdLst>
              <a:gd name="connsiteX0" fmla="*/ 0 w 4105883"/>
              <a:gd name="connsiteY0" fmla="*/ 0 h 474410"/>
              <a:gd name="connsiteX1" fmla="*/ 586555 w 4105883"/>
              <a:gd name="connsiteY1" fmla="*/ 0 h 474410"/>
              <a:gd name="connsiteX2" fmla="*/ 1173109 w 4105883"/>
              <a:gd name="connsiteY2" fmla="*/ 0 h 474410"/>
              <a:gd name="connsiteX3" fmla="*/ 1841782 w 4105883"/>
              <a:gd name="connsiteY3" fmla="*/ 0 h 474410"/>
              <a:gd name="connsiteX4" fmla="*/ 2469395 w 4105883"/>
              <a:gd name="connsiteY4" fmla="*/ 0 h 474410"/>
              <a:gd name="connsiteX5" fmla="*/ 3138068 w 4105883"/>
              <a:gd name="connsiteY5" fmla="*/ 0 h 474410"/>
              <a:gd name="connsiteX6" fmla="*/ 4105883 w 4105883"/>
              <a:gd name="connsiteY6" fmla="*/ 0 h 474410"/>
              <a:gd name="connsiteX7" fmla="*/ 4105883 w 4105883"/>
              <a:gd name="connsiteY7" fmla="*/ 474410 h 474410"/>
              <a:gd name="connsiteX8" fmla="*/ 3560387 w 4105883"/>
              <a:gd name="connsiteY8" fmla="*/ 474410 h 474410"/>
              <a:gd name="connsiteX9" fmla="*/ 2891715 w 4105883"/>
              <a:gd name="connsiteY9" fmla="*/ 474410 h 474410"/>
              <a:gd name="connsiteX10" fmla="*/ 2223042 w 4105883"/>
              <a:gd name="connsiteY10" fmla="*/ 474410 h 474410"/>
              <a:gd name="connsiteX11" fmla="*/ 1677546 w 4105883"/>
              <a:gd name="connsiteY11" fmla="*/ 474410 h 474410"/>
              <a:gd name="connsiteX12" fmla="*/ 1090992 w 4105883"/>
              <a:gd name="connsiteY12" fmla="*/ 474410 h 474410"/>
              <a:gd name="connsiteX13" fmla="*/ 0 w 4105883"/>
              <a:gd name="connsiteY13" fmla="*/ 474410 h 474410"/>
              <a:gd name="connsiteX14" fmla="*/ 0 w 4105883"/>
              <a:gd name="connsiteY14" fmla="*/ 0 h 47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05883" h="474410" extrusionOk="0">
                <a:moveTo>
                  <a:pt x="0" y="0"/>
                </a:moveTo>
                <a:cubicBezTo>
                  <a:pt x="242911" y="-21084"/>
                  <a:pt x="356745" y="48701"/>
                  <a:pt x="586555" y="0"/>
                </a:cubicBezTo>
                <a:cubicBezTo>
                  <a:pt x="816366" y="-48701"/>
                  <a:pt x="954475" y="56506"/>
                  <a:pt x="1173109" y="0"/>
                </a:cubicBezTo>
                <a:cubicBezTo>
                  <a:pt x="1391743" y="-56506"/>
                  <a:pt x="1605399" y="44278"/>
                  <a:pt x="1841782" y="0"/>
                </a:cubicBezTo>
                <a:cubicBezTo>
                  <a:pt x="2078165" y="-44278"/>
                  <a:pt x="2288909" y="42412"/>
                  <a:pt x="2469395" y="0"/>
                </a:cubicBezTo>
                <a:cubicBezTo>
                  <a:pt x="2649881" y="-42412"/>
                  <a:pt x="2858868" y="37280"/>
                  <a:pt x="3138068" y="0"/>
                </a:cubicBezTo>
                <a:cubicBezTo>
                  <a:pt x="3417268" y="-37280"/>
                  <a:pt x="3745621" y="29597"/>
                  <a:pt x="4105883" y="0"/>
                </a:cubicBezTo>
                <a:cubicBezTo>
                  <a:pt x="4149465" y="163702"/>
                  <a:pt x="4085255" y="339888"/>
                  <a:pt x="4105883" y="474410"/>
                </a:cubicBezTo>
                <a:cubicBezTo>
                  <a:pt x="3993846" y="509549"/>
                  <a:pt x="3720774" y="473410"/>
                  <a:pt x="3560387" y="474410"/>
                </a:cubicBezTo>
                <a:cubicBezTo>
                  <a:pt x="3400000" y="475410"/>
                  <a:pt x="3073234" y="457567"/>
                  <a:pt x="2891715" y="474410"/>
                </a:cubicBezTo>
                <a:cubicBezTo>
                  <a:pt x="2710196" y="491253"/>
                  <a:pt x="2498128" y="407818"/>
                  <a:pt x="2223042" y="474410"/>
                </a:cubicBezTo>
                <a:cubicBezTo>
                  <a:pt x="1947956" y="541002"/>
                  <a:pt x="1844351" y="455703"/>
                  <a:pt x="1677546" y="474410"/>
                </a:cubicBezTo>
                <a:cubicBezTo>
                  <a:pt x="1510741" y="493117"/>
                  <a:pt x="1349488" y="466193"/>
                  <a:pt x="1090992" y="474410"/>
                </a:cubicBezTo>
                <a:cubicBezTo>
                  <a:pt x="832496" y="482627"/>
                  <a:pt x="311065" y="352916"/>
                  <a:pt x="0" y="474410"/>
                </a:cubicBezTo>
                <a:cubicBezTo>
                  <a:pt x="-46505" y="270932"/>
                  <a:pt x="53124" y="160911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18850288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43A92-9648-0F3C-C154-E32A423446AA}"/>
              </a:ext>
            </a:extLst>
          </p:cNvPr>
          <p:cNvSpPr/>
          <p:nvPr/>
        </p:nvSpPr>
        <p:spPr>
          <a:xfrm>
            <a:off x="8137190" y="302984"/>
            <a:ext cx="2989433" cy="49675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Telling us from where it will start loading the data from code memory region to data memory region</a:t>
            </a:r>
            <a:endParaRPr lang="en-US" dirty="0"/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925295B3-7AF9-8E2B-45B9-8DF7FFF1EBC6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8248283" y="255784"/>
            <a:ext cx="839667" cy="192758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149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470868-A33F-F24A-6805-0A5C4762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59" y="799742"/>
            <a:ext cx="10567481" cy="57263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C69D30-C34B-4402-F2AD-2930FE0048DF}"/>
              </a:ext>
            </a:extLst>
          </p:cNvPr>
          <p:cNvSpPr/>
          <p:nvPr/>
        </p:nvSpPr>
        <p:spPr>
          <a:xfrm>
            <a:off x="126460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all the ins.</a:t>
            </a:r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918378B5-B3DA-8FC6-BE34-6E8CAD3137F3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676637" y="491813"/>
            <a:ext cx="431753" cy="39397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2E267-E98C-9D7C-058C-47D32F37CFFA}"/>
              </a:ext>
            </a:extLst>
          </p:cNvPr>
          <p:cNvSpPr/>
          <p:nvPr/>
        </p:nvSpPr>
        <p:spPr>
          <a:xfrm>
            <a:off x="1381327" y="190820"/>
            <a:ext cx="113813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</a:t>
            </a:r>
            <a:endParaRPr lang="en-US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80BA42A-9FA5-2977-10EA-1254EF66C5E0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1547262" y="501541"/>
            <a:ext cx="431753" cy="374514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A447D-BBE6-CB57-26BC-E690A3812832}"/>
              </a:ext>
            </a:extLst>
          </p:cNvPr>
          <p:cNvSpPr/>
          <p:nvPr/>
        </p:nvSpPr>
        <p:spPr>
          <a:xfrm>
            <a:off x="2636194" y="77821"/>
            <a:ext cx="1099235" cy="63229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Run next ins but step over the function </a:t>
            </a:r>
            <a:endParaRPr lang="en-US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E624AD3-A13D-B80E-F87F-3FF7DD062A31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2371119" y="89983"/>
            <a:ext cx="194558" cy="143482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B9D7DE7-623D-7975-0274-62667BF61AE0}"/>
              </a:ext>
            </a:extLst>
          </p:cNvPr>
          <p:cNvSpPr/>
          <p:nvPr/>
        </p:nvSpPr>
        <p:spPr>
          <a:xfrm>
            <a:off x="7603788" y="2969688"/>
            <a:ext cx="3615446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If we increase the input char size it will eventually overwrite the secret in data memory region </a:t>
            </a:r>
            <a:endParaRPr lang="en-US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DFA8647-E648-A089-2867-522E6CAC1614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8255296" y="2272785"/>
            <a:ext cx="177210" cy="213522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8A8FCA5-D9BC-38A6-E983-016CED451B73}"/>
              </a:ext>
            </a:extLst>
          </p:cNvPr>
          <p:cNvSpPr/>
          <p:nvPr/>
        </p:nvSpPr>
        <p:spPr>
          <a:xfrm>
            <a:off x="3891061" y="190819"/>
            <a:ext cx="1799620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Starting point in assembly</a:t>
            </a:r>
            <a:endParaRPr lang="en-US" dirty="0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4D0B0D1-6761-D044-7EF8-2A257276030D}"/>
              </a:ext>
            </a:extLst>
          </p:cNvPr>
          <p:cNvCxnSpPr>
            <a:cxnSpLocks/>
            <a:stCxn id="25" idx="2"/>
          </p:cNvCxnSpPr>
          <p:nvPr/>
        </p:nvCxnSpPr>
        <p:spPr>
          <a:xfrm rot="5400000">
            <a:off x="3597369" y="333741"/>
            <a:ext cx="1054323" cy="133268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02840C5-3D03-26BE-FEA4-CC31C32A5235}"/>
              </a:ext>
            </a:extLst>
          </p:cNvPr>
          <p:cNvSpPr/>
          <p:nvPr/>
        </p:nvSpPr>
        <p:spPr>
          <a:xfrm>
            <a:off x="972766" y="1293779"/>
            <a:ext cx="1434830" cy="178988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13E8E6-58BD-8F4B-445D-666C052B3BBC}"/>
              </a:ext>
            </a:extLst>
          </p:cNvPr>
          <p:cNvSpPr/>
          <p:nvPr/>
        </p:nvSpPr>
        <p:spPr>
          <a:xfrm>
            <a:off x="0" y="1405201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Registers</a:t>
            </a:r>
            <a:endParaRPr lang="en-US" dirty="0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2B26EF9-8FC5-C31F-DE3D-DF7CABCC9804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438738" y="1654695"/>
            <a:ext cx="501421" cy="56663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ECD7A8F-E522-8953-FFCF-27BF16D26CA9}"/>
              </a:ext>
            </a:extLst>
          </p:cNvPr>
          <p:cNvSpPr/>
          <p:nvPr/>
        </p:nvSpPr>
        <p:spPr>
          <a:xfrm>
            <a:off x="0" y="2278348"/>
            <a:ext cx="812259" cy="28210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Stack</a:t>
            </a:r>
            <a:endParaRPr lang="en-US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4BEE14C-E6C3-EFC0-092E-CCCADF0D51A2}"/>
              </a:ext>
            </a:extLst>
          </p:cNvPr>
          <p:cNvCxnSpPr>
            <a:cxnSpLocks/>
            <a:stCxn id="41" idx="2"/>
          </p:cNvCxnSpPr>
          <p:nvPr/>
        </p:nvCxnSpPr>
        <p:spPr>
          <a:xfrm rot="16200000" flipH="1">
            <a:off x="639112" y="2327467"/>
            <a:ext cx="217405" cy="68336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7E13CC5-4B8E-12D7-DD20-F9665F46AB35}"/>
              </a:ext>
            </a:extLst>
          </p:cNvPr>
          <p:cNvSpPr/>
          <p:nvPr/>
        </p:nvSpPr>
        <p:spPr>
          <a:xfrm>
            <a:off x="5378584" y="3790545"/>
            <a:ext cx="6001156" cy="273558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9F647-9FE3-9BA7-792F-A703075F7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933" y="3811990"/>
            <a:ext cx="5974807" cy="27141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BCBDA8-B50F-1286-A09D-96CA3C1DA366}"/>
              </a:ext>
            </a:extLst>
          </p:cNvPr>
          <p:cNvSpPr/>
          <p:nvPr/>
        </p:nvSpPr>
        <p:spPr>
          <a:xfrm>
            <a:off x="1877439" y="4414093"/>
            <a:ext cx="3005846" cy="5372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Code Memory region starting from </a:t>
            </a:r>
          </a:p>
          <a:p>
            <a:pPr algn="ctr"/>
            <a:r>
              <a:rPr lang="en-US" sz="1100" b="1" dirty="0"/>
              <a:t>C:0x0000</a:t>
            </a:r>
            <a:endParaRPr lang="en-US" b="1" dirty="0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8CDAEFB3-CE14-8884-FE7E-0A3B8923C07E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322077" y="4009663"/>
            <a:ext cx="114792" cy="199822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F5239E3-FD32-403F-9FD1-D34961608886}"/>
              </a:ext>
            </a:extLst>
          </p:cNvPr>
          <p:cNvSpPr/>
          <p:nvPr/>
        </p:nvSpPr>
        <p:spPr>
          <a:xfrm>
            <a:off x="3617878" y="1379655"/>
            <a:ext cx="4105883" cy="474410"/>
          </a:xfrm>
          <a:custGeom>
            <a:avLst/>
            <a:gdLst>
              <a:gd name="connsiteX0" fmla="*/ 0 w 4105883"/>
              <a:gd name="connsiteY0" fmla="*/ 0 h 474410"/>
              <a:gd name="connsiteX1" fmla="*/ 586555 w 4105883"/>
              <a:gd name="connsiteY1" fmla="*/ 0 h 474410"/>
              <a:gd name="connsiteX2" fmla="*/ 1173109 w 4105883"/>
              <a:gd name="connsiteY2" fmla="*/ 0 h 474410"/>
              <a:gd name="connsiteX3" fmla="*/ 1841782 w 4105883"/>
              <a:gd name="connsiteY3" fmla="*/ 0 h 474410"/>
              <a:gd name="connsiteX4" fmla="*/ 2469395 w 4105883"/>
              <a:gd name="connsiteY4" fmla="*/ 0 h 474410"/>
              <a:gd name="connsiteX5" fmla="*/ 3138068 w 4105883"/>
              <a:gd name="connsiteY5" fmla="*/ 0 h 474410"/>
              <a:gd name="connsiteX6" fmla="*/ 4105883 w 4105883"/>
              <a:gd name="connsiteY6" fmla="*/ 0 h 474410"/>
              <a:gd name="connsiteX7" fmla="*/ 4105883 w 4105883"/>
              <a:gd name="connsiteY7" fmla="*/ 474410 h 474410"/>
              <a:gd name="connsiteX8" fmla="*/ 3560387 w 4105883"/>
              <a:gd name="connsiteY8" fmla="*/ 474410 h 474410"/>
              <a:gd name="connsiteX9" fmla="*/ 2891715 w 4105883"/>
              <a:gd name="connsiteY9" fmla="*/ 474410 h 474410"/>
              <a:gd name="connsiteX10" fmla="*/ 2223042 w 4105883"/>
              <a:gd name="connsiteY10" fmla="*/ 474410 h 474410"/>
              <a:gd name="connsiteX11" fmla="*/ 1677546 w 4105883"/>
              <a:gd name="connsiteY11" fmla="*/ 474410 h 474410"/>
              <a:gd name="connsiteX12" fmla="*/ 1090992 w 4105883"/>
              <a:gd name="connsiteY12" fmla="*/ 474410 h 474410"/>
              <a:gd name="connsiteX13" fmla="*/ 0 w 4105883"/>
              <a:gd name="connsiteY13" fmla="*/ 474410 h 474410"/>
              <a:gd name="connsiteX14" fmla="*/ 0 w 4105883"/>
              <a:gd name="connsiteY14" fmla="*/ 0 h 47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05883" h="474410" extrusionOk="0">
                <a:moveTo>
                  <a:pt x="0" y="0"/>
                </a:moveTo>
                <a:cubicBezTo>
                  <a:pt x="242911" y="-21084"/>
                  <a:pt x="356745" y="48701"/>
                  <a:pt x="586555" y="0"/>
                </a:cubicBezTo>
                <a:cubicBezTo>
                  <a:pt x="816366" y="-48701"/>
                  <a:pt x="954475" y="56506"/>
                  <a:pt x="1173109" y="0"/>
                </a:cubicBezTo>
                <a:cubicBezTo>
                  <a:pt x="1391743" y="-56506"/>
                  <a:pt x="1605399" y="44278"/>
                  <a:pt x="1841782" y="0"/>
                </a:cubicBezTo>
                <a:cubicBezTo>
                  <a:pt x="2078165" y="-44278"/>
                  <a:pt x="2288909" y="42412"/>
                  <a:pt x="2469395" y="0"/>
                </a:cubicBezTo>
                <a:cubicBezTo>
                  <a:pt x="2649881" y="-42412"/>
                  <a:pt x="2858868" y="37280"/>
                  <a:pt x="3138068" y="0"/>
                </a:cubicBezTo>
                <a:cubicBezTo>
                  <a:pt x="3417268" y="-37280"/>
                  <a:pt x="3745621" y="29597"/>
                  <a:pt x="4105883" y="0"/>
                </a:cubicBezTo>
                <a:cubicBezTo>
                  <a:pt x="4149465" y="163702"/>
                  <a:pt x="4085255" y="339888"/>
                  <a:pt x="4105883" y="474410"/>
                </a:cubicBezTo>
                <a:cubicBezTo>
                  <a:pt x="3993846" y="509549"/>
                  <a:pt x="3720774" y="473410"/>
                  <a:pt x="3560387" y="474410"/>
                </a:cubicBezTo>
                <a:cubicBezTo>
                  <a:pt x="3400000" y="475410"/>
                  <a:pt x="3073234" y="457567"/>
                  <a:pt x="2891715" y="474410"/>
                </a:cubicBezTo>
                <a:cubicBezTo>
                  <a:pt x="2710196" y="491253"/>
                  <a:pt x="2498128" y="407818"/>
                  <a:pt x="2223042" y="474410"/>
                </a:cubicBezTo>
                <a:cubicBezTo>
                  <a:pt x="1947956" y="541002"/>
                  <a:pt x="1844351" y="455703"/>
                  <a:pt x="1677546" y="474410"/>
                </a:cubicBezTo>
                <a:cubicBezTo>
                  <a:pt x="1510741" y="493117"/>
                  <a:pt x="1349488" y="466193"/>
                  <a:pt x="1090992" y="474410"/>
                </a:cubicBezTo>
                <a:cubicBezTo>
                  <a:pt x="832496" y="482627"/>
                  <a:pt x="311065" y="352916"/>
                  <a:pt x="0" y="474410"/>
                </a:cubicBezTo>
                <a:cubicBezTo>
                  <a:pt x="-46505" y="270932"/>
                  <a:pt x="53124" y="160911"/>
                  <a:pt x="0" y="0"/>
                </a:cubicBezTo>
                <a:close/>
              </a:path>
            </a:pathLst>
          </a:custGeom>
          <a:noFill/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18850288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43A92-9648-0F3C-C154-E32A423446AA}"/>
              </a:ext>
            </a:extLst>
          </p:cNvPr>
          <p:cNvSpPr/>
          <p:nvPr/>
        </p:nvSpPr>
        <p:spPr>
          <a:xfrm>
            <a:off x="8137190" y="302984"/>
            <a:ext cx="2989433" cy="49675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Telling us from where it will start loading the data from code memory region to data memory region</a:t>
            </a:r>
            <a:endParaRPr lang="en-US" dirty="0"/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925295B3-7AF9-8E2B-45B9-8DF7FFF1EBC6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8248283" y="255784"/>
            <a:ext cx="839667" cy="192758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188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 err="1">
                <a:latin typeface="Lucida Sans"/>
              </a:rPr>
              <a:t>Agent.c</a:t>
            </a:r>
            <a:r>
              <a:rPr lang="en" dirty="0">
                <a:latin typeface="Lucida Sans"/>
              </a:rPr>
              <a:t> program</a:t>
            </a:r>
          </a:p>
        </p:txBody>
      </p:sp>
      <p:sp>
        <p:nvSpPr>
          <p:cNvPr id="6" name="Google Shape;68;p14">
            <a:extLst>
              <a:ext uri="{FF2B5EF4-FFF2-40B4-BE49-F238E27FC236}">
                <a16:creationId xmlns:a16="http://schemas.microsoft.com/office/drawing/2014/main" id="{D165D00C-7AF2-D6DB-936A-844156F37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779305"/>
            <a:ext cx="5069271" cy="5914678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8965" indent="-456565"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#include &lt;reg51.h&gt;</a:t>
            </a:r>
            <a:endParaRPr lang="en" sz="1800" dirty="0">
              <a:latin typeface="Lucida Sans"/>
              <a:cs typeface="Times New Roman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#include &lt;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stdlib.h</a:t>
            </a:r>
            <a:r>
              <a:rPr lang="en" sz="1800" dirty="0">
                <a:latin typeface="Lucida Sans"/>
                <a:ea typeface="+mn-lt"/>
                <a:cs typeface="+mn-lt"/>
              </a:rPr>
              <a:t>&gt;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#include &lt;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string.h</a:t>
            </a:r>
            <a:r>
              <a:rPr lang="en" sz="1800" dirty="0">
                <a:latin typeface="Lucida Sans"/>
                <a:ea typeface="+mn-lt"/>
                <a:cs typeface="+mn-lt"/>
              </a:rPr>
              <a:t>&gt;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#include &lt;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stdio.h</a:t>
            </a:r>
            <a:r>
              <a:rPr lang="en" sz="1800" dirty="0">
                <a:latin typeface="Lucida Sans"/>
                <a:ea typeface="+mn-lt"/>
                <a:cs typeface="+mn-lt"/>
              </a:rPr>
              <a:t>&gt;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typedef struct {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 char *key;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 int value;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}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ListItem</a:t>
            </a:r>
            <a:r>
              <a:rPr lang="en" sz="1800" dirty="0">
                <a:latin typeface="Lucida Sans"/>
                <a:ea typeface="+mn-lt"/>
                <a:cs typeface="+mn-lt"/>
              </a:rPr>
              <a:t>;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endParaRPr lang="en" sz="1800" dirty="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 err="1">
                <a:latin typeface="Lucida Sans"/>
                <a:ea typeface="+mn-lt"/>
                <a:cs typeface="+mn-lt"/>
              </a:rPr>
              <a:t>ListItem</a:t>
            </a:r>
            <a:r>
              <a:rPr lang="en" sz="1800" dirty="0">
                <a:latin typeface="Lucida Sans"/>
                <a:ea typeface="+mn-lt"/>
                <a:cs typeface="+mn-lt"/>
              </a:rPr>
              <a:t> list[] = {</a:t>
            </a:r>
            <a:endParaRPr lang="en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 {"</a:t>
            </a:r>
            <a:r>
              <a:rPr lang="en" sz="1800" dirty="0">
                <a:ea typeface="+mn-lt"/>
                <a:cs typeface="+mn-lt"/>
              </a:rPr>
              <a:t>01012008</a:t>
            </a:r>
            <a:r>
              <a:rPr lang="en" sz="1800" dirty="0">
                <a:latin typeface="Lucida Sans"/>
                <a:ea typeface="+mn-lt"/>
                <a:cs typeface="+mn-lt"/>
              </a:rPr>
              <a:t>", 88},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 {"</a:t>
            </a:r>
            <a:r>
              <a:rPr lang="en" sz="1800" dirty="0">
                <a:ea typeface="+mn-lt"/>
                <a:cs typeface="+mn-lt"/>
              </a:rPr>
              <a:t>01012007</a:t>
            </a:r>
            <a:r>
              <a:rPr lang="en" sz="1800" dirty="0">
                <a:latin typeface="Lucida Sans"/>
                <a:ea typeface="+mn-lt"/>
                <a:cs typeface="+mn-lt"/>
              </a:rPr>
              <a:t>", 87},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 {"</a:t>
            </a:r>
            <a:r>
              <a:rPr lang="en" sz="1800" dirty="0">
                <a:ea typeface="+mn-lt"/>
                <a:cs typeface="+mn-lt"/>
              </a:rPr>
              <a:t>01012006</a:t>
            </a:r>
            <a:r>
              <a:rPr lang="en" sz="1800" dirty="0">
                <a:latin typeface="Lucida Sans"/>
                <a:ea typeface="+mn-lt"/>
                <a:cs typeface="+mn-lt"/>
              </a:rPr>
              <a:t>", 86},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 {"</a:t>
            </a:r>
            <a:r>
              <a:rPr lang="en" sz="1800" dirty="0">
                <a:ea typeface="+mn-lt"/>
                <a:cs typeface="+mn-lt"/>
              </a:rPr>
              <a:t>01012005</a:t>
            </a:r>
            <a:r>
              <a:rPr lang="en" sz="1800" dirty="0">
                <a:latin typeface="Lucida Sans"/>
                <a:ea typeface="+mn-lt"/>
                <a:cs typeface="+mn-lt"/>
              </a:rPr>
              <a:t>", 85},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   {"</a:t>
            </a:r>
            <a:r>
              <a:rPr lang="en" sz="1800" dirty="0">
                <a:ea typeface="+mn-lt"/>
                <a:cs typeface="+mn-lt"/>
              </a:rPr>
              <a:t>01012004</a:t>
            </a:r>
            <a:r>
              <a:rPr lang="en" sz="1800" dirty="0">
                <a:latin typeface="Lucida Sans"/>
                <a:ea typeface="+mn-lt"/>
                <a:cs typeface="+mn-lt"/>
              </a:rPr>
              <a:t>", 84}</a:t>
            </a: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};</a:t>
            </a:r>
            <a:endParaRPr lang="en" sz="1800" dirty="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cs typeface="Arial" panose="020B0604020202020204"/>
              </a:rPr>
              <a:t>const int </a:t>
            </a:r>
            <a:r>
              <a:rPr lang="en" sz="1800" dirty="0" err="1">
                <a:latin typeface="Lucida Sans"/>
                <a:cs typeface="Arial"/>
              </a:rPr>
              <a:t>list_length</a:t>
            </a:r>
            <a:r>
              <a:rPr lang="en" sz="1800" dirty="0">
                <a:latin typeface="Lucida Sans"/>
                <a:cs typeface="Arial"/>
              </a:rPr>
              <a:t> = </a:t>
            </a:r>
            <a:r>
              <a:rPr lang="en" sz="1800" dirty="0" err="1">
                <a:latin typeface="Lucida Sans"/>
                <a:cs typeface="Arial"/>
              </a:rPr>
              <a:t>sizeof</a:t>
            </a:r>
            <a:r>
              <a:rPr lang="en" sz="1800" dirty="0">
                <a:latin typeface="Lucida Sans"/>
                <a:cs typeface="Arial"/>
              </a:rPr>
              <a:t>(list) / </a:t>
            </a:r>
            <a:r>
              <a:rPr lang="en" sz="1800" dirty="0" err="1">
                <a:latin typeface="Lucida Sans"/>
                <a:cs typeface="Arial"/>
              </a:rPr>
              <a:t>sizeof</a:t>
            </a:r>
            <a:r>
              <a:rPr lang="en" sz="1800" dirty="0">
                <a:latin typeface="Lucida Sans"/>
                <a:cs typeface="Arial"/>
              </a:rPr>
              <a:t>(</a:t>
            </a:r>
            <a:r>
              <a:rPr lang="en" sz="1800" dirty="0" err="1">
                <a:latin typeface="Lucida Sans"/>
                <a:cs typeface="Arial"/>
              </a:rPr>
              <a:t>ListItem</a:t>
            </a:r>
            <a:r>
              <a:rPr lang="en" sz="1800" dirty="0">
                <a:latin typeface="Lucida Sans"/>
                <a:cs typeface="Arial"/>
              </a:rPr>
              <a:t>); </a:t>
            </a:r>
            <a:endParaRPr lang="en" sz="1800">
              <a:latin typeface="Lucida Sans"/>
              <a:cs typeface="Arial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cs typeface="Arial"/>
              </a:rPr>
              <a:t>int </a:t>
            </a:r>
            <a:r>
              <a:rPr lang="en" sz="1800" dirty="0" err="1">
                <a:latin typeface="Lucida Sans"/>
                <a:cs typeface="Arial"/>
              </a:rPr>
              <a:t>get_item_from_list</a:t>
            </a:r>
            <a:r>
              <a:rPr lang="en" sz="1800" dirty="0">
                <a:latin typeface="Lucida Sans"/>
                <a:cs typeface="Arial"/>
              </a:rPr>
              <a:t>(char* str1);</a:t>
            </a:r>
          </a:p>
          <a:p>
            <a:pPr marL="457200" indent="-457200">
              <a:spcAft>
                <a:spcPts val="2133"/>
              </a:spcAft>
              <a:buAutoNum type="arabicPeriod"/>
            </a:pPr>
            <a:endParaRPr lang="en-US" sz="1800" dirty="0">
              <a:latin typeface="Lucida Sans" panose="020B0602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68;p14">
            <a:extLst>
              <a:ext uri="{FF2B5EF4-FFF2-40B4-BE49-F238E27FC236}">
                <a16:creationId xmlns:a16="http://schemas.microsoft.com/office/drawing/2014/main" id="{FDE78685-6CF2-12B7-23CB-87CA8FCB3B13}"/>
              </a:ext>
            </a:extLst>
          </p:cNvPr>
          <p:cNvSpPr txBox="1">
            <a:spLocks/>
          </p:cNvSpPr>
          <p:nvPr/>
        </p:nvSpPr>
        <p:spPr>
          <a:xfrm>
            <a:off x="5611236" y="781310"/>
            <a:ext cx="6282456" cy="5927170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800"/>
              <a:buFont typeface="Arial" panose="020B0604020202020204" pitchFamily="34" charset="0"/>
              <a:buChar char="●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Arial" panose="020B0604020202020204" pitchFamily="34" charset="0"/>
              <a:buChar char="○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Arial" panose="020B0604020202020204" pitchFamily="34" charset="0"/>
              <a:buChar char="●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Arial" panose="020B0604020202020204" pitchFamily="34" charset="0"/>
              <a:buChar char="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Garamond" pitchFamily="18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Garamond" pitchFamily="18" charset="0"/>
              <a:buChar char="●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Garamond" pitchFamily="18" charset="0"/>
              <a:buChar char="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tx1">
                  <a:lumMod val="85000"/>
                  <a:lumOff val="15000"/>
                </a:schemeClr>
              </a:buClr>
              <a:buSzPts val="1400"/>
              <a:buFont typeface="Garamond" pitchFamily="18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int main() { </a:t>
            </a:r>
            <a:endParaRPr lang="en-US" sz="1800">
              <a:latin typeface="Lucida Sans"/>
              <a:cs typeface="Arial" panose="020B0604020202020204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int flag;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char*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input_char</a:t>
            </a:r>
            <a:r>
              <a:rPr lang="en" sz="1800" dirty="0">
                <a:latin typeface="Lucida Sans"/>
                <a:ea typeface="+mn-lt"/>
                <a:cs typeface="+mn-lt"/>
              </a:rPr>
              <a:t> = "</a:t>
            </a:r>
            <a:r>
              <a:rPr lang="en" sz="1800" dirty="0">
                <a:ea typeface="+mn-lt"/>
                <a:cs typeface="+mn-lt"/>
              </a:rPr>
              <a:t>01012007</a:t>
            </a:r>
            <a:r>
              <a:rPr lang="en" sz="1800" dirty="0">
                <a:latin typeface="Lucida Sans"/>
                <a:ea typeface="+mn-lt"/>
                <a:cs typeface="+mn-lt"/>
              </a:rPr>
              <a:t>"; </a:t>
            </a: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int result =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get_item_from_list</a:t>
            </a:r>
            <a:r>
              <a:rPr lang="en" sz="1800" dirty="0">
                <a:latin typeface="Lucida Sans"/>
                <a:ea typeface="+mn-lt"/>
                <a:cs typeface="+mn-lt"/>
              </a:rPr>
              <a:t>(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input_char</a:t>
            </a:r>
            <a:r>
              <a:rPr lang="en" sz="1800" dirty="0">
                <a:latin typeface="Lucida Sans"/>
                <a:ea typeface="+mn-lt"/>
                <a:cs typeface="+mn-lt"/>
              </a:rPr>
              <a:t>);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flag = 1;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return result;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}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int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get_item_from_list</a:t>
            </a:r>
            <a:r>
              <a:rPr lang="en" sz="1800" dirty="0">
                <a:latin typeface="Lucida Sans"/>
                <a:ea typeface="+mn-lt"/>
                <a:cs typeface="+mn-lt"/>
              </a:rPr>
              <a:t>(char* str1) {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// Iterate over the list and find the matching item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int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; char j;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char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buf</a:t>
            </a:r>
            <a:r>
              <a:rPr lang="en" sz="1800" dirty="0">
                <a:latin typeface="Lucida Sans"/>
                <a:ea typeface="+mn-lt"/>
                <a:cs typeface="+mn-lt"/>
              </a:rPr>
              <a:t>[9]; </a:t>
            </a: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strcpy</a:t>
            </a:r>
            <a:r>
              <a:rPr lang="en" sz="1800" dirty="0">
                <a:latin typeface="Lucida Sans"/>
                <a:ea typeface="+mn-lt"/>
                <a:cs typeface="+mn-lt"/>
              </a:rPr>
              <a:t> (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buf</a:t>
            </a:r>
            <a:r>
              <a:rPr lang="en" sz="1800" dirty="0">
                <a:latin typeface="Lucida Sans"/>
                <a:ea typeface="+mn-lt"/>
                <a:cs typeface="+mn-lt"/>
              </a:rPr>
              <a:t>, str1);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for (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 = 0;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 &lt;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list_length</a:t>
            </a:r>
            <a:r>
              <a:rPr lang="en" sz="1800" dirty="0">
                <a:latin typeface="Lucida Sans"/>
                <a:ea typeface="+mn-lt"/>
                <a:cs typeface="+mn-lt"/>
              </a:rPr>
              <a:t>;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++) {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    j =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strcmp</a:t>
            </a:r>
            <a:r>
              <a:rPr lang="en" sz="1800" dirty="0">
                <a:latin typeface="Lucida Sans"/>
                <a:ea typeface="+mn-lt"/>
                <a:cs typeface="+mn-lt"/>
              </a:rPr>
              <a:t> (list[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].key , 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buf</a:t>
            </a:r>
            <a:r>
              <a:rPr lang="en" sz="1800" dirty="0">
                <a:latin typeface="Lucida Sans"/>
                <a:ea typeface="+mn-lt"/>
                <a:cs typeface="+mn-lt"/>
              </a:rPr>
              <a:t>);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    if (j == 0) {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        return list[</a:t>
            </a:r>
            <a:r>
              <a:rPr lang="en" sz="1800" dirty="0" err="1">
                <a:latin typeface="Lucida Sans"/>
                <a:ea typeface="+mn-lt"/>
                <a:cs typeface="+mn-lt"/>
              </a:rPr>
              <a:t>i</a:t>
            </a:r>
            <a:r>
              <a:rPr lang="en" sz="1800" dirty="0">
                <a:latin typeface="Lucida Sans"/>
                <a:ea typeface="+mn-lt"/>
                <a:cs typeface="+mn-lt"/>
              </a:rPr>
              <a:t>].value;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    }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    } // If no matching item is found, return NULL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return NULL; </a:t>
            </a:r>
            <a:endParaRPr lang="en" sz="1800">
              <a:latin typeface="Lucida Sans"/>
              <a:ea typeface="+mn-lt"/>
              <a:cs typeface="+mn-lt"/>
            </a:endParaRPr>
          </a:p>
          <a:p>
            <a:pPr marL="608965" indent="-456565">
              <a:buClr>
                <a:srgbClr val="262626"/>
              </a:buClr>
              <a:buAutoNum type="arabicPeriod"/>
            </a:pPr>
            <a:r>
              <a:rPr lang="en" sz="1800" dirty="0">
                <a:latin typeface="Lucida Sans"/>
                <a:ea typeface="+mn-lt"/>
                <a:cs typeface="+mn-lt"/>
              </a:rPr>
              <a:t>}</a:t>
            </a:r>
            <a:endParaRPr lang="en" dirty="0">
              <a:cs typeface="Arial"/>
            </a:endParaRPr>
          </a:p>
          <a:p>
            <a:pPr marL="609600" indent="-457200">
              <a:buClr>
                <a:srgbClr val="262626"/>
              </a:buClr>
              <a:buAutoNum type="arabicPeriod"/>
            </a:pPr>
            <a:endParaRPr lang="en" sz="1800" dirty="0">
              <a:latin typeface="Lucida Sans"/>
              <a:cs typeface="Arial" panose="020B0604020202020204"/>
            </a:endParaRPr>
          </a:p>
          <a:p>
            <a:pPr marL="457200" indent="-457200">
              <a:spcAft>
                <a:spcPts val="2133"/>
              </a:spcAft>
              <a:buClr>
                <a:prstClr val="black">
                  <a:lumMod val="85000"/>
                  <a:lumOff val="15000"/>
                </a:prstClr>
              </a:buClr>
              <a:buAutoNum type="arabicPeriod"/>
            </a:pPr>
            <a:endParaRPr lang="en-US" sz="1800" dirty="0">
              <a:latin typeface="Lucida Sans" panose="020B0602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861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Mitigation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ABF7-0AC5-5684-6D35-169C91B0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51317"/>
            <a:ext cx="5155475" cy="5775420"/>
          </a:xfrm>
        </p:spPr>
        <p:txBody>
          <a:bodyPr/>
          <a:lstStyle/>
          <a:p>
            <a:pPr marL="608965" indent="-456565">
              <a:buClr>
                <a:prstClr val="black">
                  <a:lumMod val="85000"/>
                  <a:lumOff val="15000"/>
                </a:prstClr>
              </a:buClr>
            </a:pPr>
            <a:r>
              <a:rPr lang="en-US" sz="2400" b="1" dirty="0">
                <a:latin typeface="Lucida Sans"/>
                <a:ea typeface="+mn-lt"/>
                <a:cs typeface="+mn-lt"/>
              </a:rPr>
              <a:t>Address Space Layout Randomization(</a:t>
            </a:r>
            <a:r>
              <a:rPr lang="en-US" sz="2400" b="1" dirty="0">
                <a:solidFill>
                  <a:srgbClr val="7030A0"/>
                </a:solidFill>
                <a:latin typeface="Lucida Sans"/>
                <a:ea typeface="+mn-lt"/>
                <a:cs typeface="+mn-lt"/>
              </a:rPr>
              <a:t>ASLR</a:t>
            </a:r>
            <a:r>
              <a:rPr lang="en-US" sz="2400" b="1" dirty="0">
                <a:latin typeface="Lucida Sans"/>
                <a:ea typeface="+mn-lt"/>
                <a:cs typeface="+mn-lt"/>
              </a:rPr>
              <a:t>)</a:t>
            </a:r>
            <a:endParaRPr lang="en-US" sz="2400" b="1" dirty="0">
              <a:latin typeface="Lucida Sans"/>
              <a:cs typeface="Arial"/>
            </a:endParaRPr>
          </a:p>
          <a:p>
            <a:pPr marL="1218565" lvl="1" indent="-422910">
              <a:buClr>
                <a:srgbClr val="262626"/>
              </a:buClr>
            </a:pPr>
            <a:r>
              <a:rPr lang="en-US" sz="2400" dirty="0">
                <a:latin typeface="Lucida Sans"/>
                <a:cs typeface="Arial"/>
              </a:rPr>
              <a:t>OS prevent exploitation of memory vulnerabilities by randomly arranging the positions of key data areas of a process </a:t>
            </a:r>
          </a:p>
          <a:p>
            <a:pPr marL="1218565" lvl="1" indent="-422910">
              <a:buClr>
                <a:srgbClr val="262626"/>
              </a:buClr>
            </a:pPr>
            <a:r>
              <a:rPr lang="en-US" sz="2400" dirty="0">
                <a:latin typeface="Lucida Sans"/>
                <a:cs typeface="Arial"/>
              </a:rPr>
              <a:t>The chance of the attacker can guess the correct stack location is slim</a:t>
            </a:r>
          </a:p>
          <a:p>
            <a:pPr marL="1218565" lvl="1" indent="-422910">
              <a:buClr>
                <a:srgbClr val="262626"/>
              </a:buClr>
            </a:pPr>
            <a:r>
              <a:rPr lang="en-US" sz="2400" dirty="0">
                <a:latin typeface="Lucida Sans"/>
                <a:cs typeface="Arial"/>
              </a:rPr>
              <a:t>Where shall EIP point to?</a:t>
            </a:r>
          </a:p>
          <a:p>
            <a:pPr marL="608965" indent="-456565">
              <a:buClr>
                <a:srgbClr val="262626"/>
              </a:buClr>
            </a:pPr>
            <a:endParaRPr lang="en-US" sz="2400" dirty="0">
              <a:latin typeface="Lucida Sans"/>
              <a:cs typeface="Arial"/>
            </a:endParaRPr>
          </a:p>
        </p:txBody>
      </p:sp>
      <p:pic>
        <p:nvPicPr>
          <p:cNvPr id="1026" name="Picture 2" descr="How to protect, prevent and mitigate buffer overflow attacks">
            <a:extLst>
              <a:ext uri="{FF2B5EF4-FFF2-40B4-BE49-F238E27FC236}">
                <a16:creationId xmlns:a16="http://schemas.microsoft.com/office/drawing/2014/main" id="{E95A63BE-90C6-4C6B-AA33-462B32D21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240" y="1478784"/>
            <a:ext cx="6297521" cy="377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703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Mitigation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7ABF7-0AC5-5684-6D35-169C91B0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51317"/>
            <a:ext cx="5155475" cy="5775420"/>
          </a:xfrm>
        </p:spPr>
        <p:txBody>
          <a:bodyPr/>
          <a:lstStyle/>
          <a:p>
            <a:pPr marL="608965" indent="-456565">
              <a:buClr>
                <a:prstClr val="black">
                  <a:lumMod val="85000"/>
                  <a:lumOff val="15000"/>
                </a:prstClr>
              </a:buClr>
            </a:pPr>
            <a:r>
              <a:rPr lang="en-US" sz="2400" b="1" dirty="0">
                <a:latin typeface="Lucida Sans"/>
                <a:ea typeface="+mn-lt"/>
                <a:cs typeface="+mn-lt"/>
              </a:rPr>
              <a:t>Address Space Layout Randomization(</a:t>
            </a:r>
            <a:r>
              <a:rPr lang="en-US" sz="2400" b="1" dirty="0">
                <a:solidFill>
                  <a:srgbClr val="7030A0"/>
                </a:solidFill>
                <a:latin typeface="Lucida Sans"/>
                <a:ea typeface="+mn-lt"/>
                <a:cs typeface="+mn-lt"/>
              </a:rPr>
              <a:t>ASLR</a:t>
            </a:r>
            <a:r>
              <a:rPr lang="en-US" sz="2400" b="1" dirty="0">
                <a:latin typeface="Lucida Sans"/>
                <a:ea typeface="+mn-lt"/>
                <a:cs typeface="+mn-lt"/>
              </a:rPr>
              <a:t>)</a:t>
            </a:r>
            <a:endParaRPr lang="en-US" sz="2400" b="1" dirty="0">
              <a:latin typeface="Lucida Sans"/>
              <a:cs typeface="Arial"/>
            </a:endParaRPr>
          </a:p>
          <a:p>
            <a:pPr marL="1218565" lvl="1" indent="-422910">
              <a:buClr>
                <a:srgbClr val="262626"/>
              </a:buClr>
            </a:pPr>
            <a:r>
              <a:rPr lang="en-US" sz="2400" dirty="0">
                <a:latin typeface="Lucida Sans"/>
                <a:cs typeface="Arial"/>
              </a:rPr>
              <a:t>The segments of process memory that are typically randomized by ASLR include: </a:t>
            </a:r>
          </a:p>
          <a:p>
            <a:pPr marL="1218565" lvl="1" indent="-422910">
              <a:buClr>
                <a:srgbClr val="262626"/>
              </a:buClr>
            </a:pPr>
            <a:r>
              <a:rPr lang="en-US" sz="2400" dirty="0">
                <a:latin typeface="Lucida Sans"/>
                <a:cs typeface="Arial"/>
              </a:rPr>
              <a:t>Base of the Executable</a:t>
            </a:r>
          </a:p>
          <a:p>
            <a:pPr marL="1218565" lvl="1" indent="-422910">
              <a:buClr>
                <a:srgbClr val="262626"/>
              </a:buClr>
            </a:pPr>
            <a:r>
              <a:rPr lang="en-US" sz="2400" dirty="0">
                <a:latin typeface="Lucida Sans"/>
                <a:cs typeface="Arial"/>
              </a:rPr>
              <a:t>Position of Libraries</a:t>
            </a:r>
          </a:p>
          <a:p>
            <a:pPr marL="1218565" lvl="1" indent="-422910">
              <a:buClr>
                <a:srgbClr val="262626"/>
              </a:buClr>
            </a:pPr>
            <a:r>
              <a:rPr lang="en-US" sz="2400" dirty="0">
                <a:latin typeface="Lucida Sans"/>
                <a:cs typeface="Arial"/>
              </a:rPr>
              <a:t>Stack, Heap, etc. </a:t>
            </a:r>
          </a:p>
        </p:txBody>
      </p:sp>
      <p:pic>
        <p:nvPicPr>
          <p:cNvPr id="1026" name="Picture 2" descr="How to protect, prevent and mitigate buffer overflow attacks">
            <a:extLst>
              <a:ext uri="{FF2B5EF4-FFF2-40B4-BE49-F238E27FC236}">
                <a16:creationId xmlns:a16="http://schemas.microsoft.com/office/drawing/2014/main" id="{E95A63BE-90C6-4C6B-AA33-462B32D21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240" y="1478784"/>
            <a:ext cx="6297521" cy="377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255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Mitigation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FE9AA50-DE68-AF39-AF3C-B798422E4A54}"/>
              </a:ext>
            </a:extLst>
          </p:cNvPr>
          <p:cNvSpPr txBox="1">
            <a:spLocks/>
          </p:cNvSpPr>
          <p:nvPr/>
        </p:nvSpPr>
        <p:spPr>
          <a:xfrm>
            <a:off x="417605" y="893691"/>
            <a:ext cx="9179241" cy="574534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342900">
              <a:buClr>
                <a:prstClr val="black">
                  <a:lumMod val="85000"/>
                  <a:lumOff val="15000"/>
                </a:prstClr>
              </a:buClr>
              <a:buFont typeface="Arial"/>
              <a:buChar char="•"/>
            </a:pPr>
            <a:r>
              <a:rPr lang="en-US" sz="2800" b="1" dirty="0" err="1">
                <a:latin typeface="Lucida Sans"/>
                <a:ea typeface="+mn-lt"/>
                <a:cs typeface="+mn-lt"/>
              </a:rPr>
              <a:t>StackGuard</a:t>
            </a:r>
            <a:r>
              <a:rPr lang="en-US" sz="2800" b="1" dirty="0">
                <a:latin typeface="Lucida Sans"/>
                <a:ea typeface="+mn-lt"/>
                <a:cs typeface="+mn-lt"/>
              </a:rPr>
              <a:t>(</a:t>
            </a:r>
            <a:r>
              <a:rPr lang="en-US" sz="2800" b="1" dirty="0">
                <a:solidFill>
                  <a:srgbClr val="000000"/>
                </a:solidFill>
                <a:latin typeface="Lucida Sans"/>
                <a:ea typeface="+mn-lt"/>
                <a:cs typeface="+mn-lt"/>
              </a:rPr>
              <a:t>canary</a:t>
            </a:r>
            <a:r>
              <a:rPr lang="en-US" sz="2800" b="1" dirty="0">
                <a:latin typeface="Lucida Sans"/>
                <a:ea typeface="+mn-lt"/>
                <a:cs typeface="+mn-lt"/>
              </a:rPr>
              <a:t>)</a:t>
            </a:r>
            <a:endParaRPr lang="en-US" sz="2800" dirty="0">
              <a:latin typeface="Lucida Sans"/>
              <a:ea typeface="+mn-lt"/>
              <a:cs typeface="+mn-lt"/>
            </a:endParaRPr>
          </a:p>
          <a:p>
            <a:pPr marL="952500" lvl="1" indent="-342900">
              <a:buClr>
                <a:srgbClr val="262626"/>
              </a:buClr>
              <a:buFont typeface="Arial"/>
              <a:buChar char="•"/>
            </a:pPr>
            <a:r>
              <a:rPr lang="en-US" sz="2400" dirty="0">
                <a:latin typeface="Lucida Sans"/>
                <a:ea typeface="+mn-lt"/>
                <a:cs typeface="+mn-lt"/>
              </a:rPr>
              <a:t>The term "canary" is analogous to the canaries (birds) that were once used in coal mining as an early warning system for toxic gases. </a:t>
            </a:r>
          </a:p>
          <a:p>
            <a:pPr marL="952500" lvl="1" indent="-342900">
              <a:buClr>
                <a:srgbClr val="262626"/>
              </a:buClr>
              <a:buFont typeface="Arial"/>
              <a:buChar char="•"/>
            </a:pPr>
            <a:r>
              <a:rPr lang="en-US" sz="2400" dirty="0">
                <a:latin typeface="Lucida Sans"/>
                <a:ea typeface="+mn-lt"/>
                <a:cs typeface="+mn-lt"/>
              </a:rPr>
              <a:t>If the canary became sick or died, the miners knew that the environment was unsafe.</a:t>
            </a:r>
          </a:p>
          <a:p>
            <a:pPr marL="952500" lvl="1" indent="-342900">
              <a:buClr>
                <a:srgbClr val="262626"/>
              </a:buClr>
              <a:buFont typeface="Arial"/>
              <a:buChar char="•"/>
            </a:pPr>
            <a:endParaRPr lang="en-US" sz="2400" dirty="0">
              <a:latin typeface="Lucida Sans"/>
              <a:ea typeface="+mn-lt"/>
              <a:cs typeface="+mn-lt"/>
            </a:endParaRPr>
          </a:p>
          <a:p>
            <a:pPr marL="952500" lvl="1" indent="-342900">
              <a:buClr>
                <a:srgbClr val="262626"/>
              </a:buClr>
              <a:buFont typeface="Arial"/>
              <a:buChar char="•"/>
            </a:pPr>
            <a:r>
              <a:rPr lang="en-US" sz="2400" dirty="0">
                <a:latin typeface="Lucida Sans"/>
                <a:ea typeface="+mn-lt"/>
                <a:cs typeface="+mn-lt"/>
              </a:rPr>
              <a:t>In the context of computing, a "canary" is a special value that is placed on the stack between the buffer and control data, such as the return address or frame pointer.</a:t>
            </a:r>
            <a:endParaRPr lang="en-US" sz="2800" dirty="0">
              <a:latin typeface="Lucida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6527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Mitigation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FE9AA50-DE68-AF39-AF3C-B798422E4A54}"/>
              </a:ext>
            </a:extLst>
          </p:cNvPr>
          <p:cNvSpPr txBox="1">
            <a:spLocks/>
          </p:cNvSpPr>
          <p:nvPr/>
        </p:nvSpPr>
        <p:spPr>
          <a:xfrm>
            <a:off x="0" y="779890"/>
            <a:ext cx="6792686" cy="509780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342900">
              <a:buClr>
                <a:prstClr val="black">
                  <a:lumMod val="85000"/>
                  <a:lumOff val="15000"/>
                </a:prstClr>
              </a:buClr>
              <a:buFont typeface="Arial"/>
              <a:buChar char="•"/>
            </a:pPr>
            <a:r>
              <a:rPr lang="en-US" sz="2800" b="1" dirty="0" err="1">
                <a:latin typeface="Lucida Sans"/>
                <a:ea typeface="+mn-lt"/>
                <a:cs typeface="+mn-lt"/>
              </a:rPr>
              <a:t>StackGuard</a:t>
            </a:r>
            <a:r>
              <a:rPr lang="en-US" sz="2800" b="1" dirty="0">
                <a:latin typeface="Lucida Sans"/>
                <a:ea typeface="+mn-lt"/>
                <a:cs typeface="+mn-lt"/>
              </a:rPr>
              <a:t>(</a:t>
            </a:r>
            <a:r>
              <a:rPr lang="en-US" sz="2800" b="1" dirty="0">
                <a:solidFill>
                  <a:srgbClr val="000000"/>
                </a:solidFill>
                <a:latin typeface="Lucida Sans"/>
                <a:ea typeface="+mn-lt"/>
                <a:cs typeface="+mn-lt"/>
              </a:rPr>
              <a:t>canary</a:t>
            </a:r>
            <a:r>
              <a:rPr lang="en-US" sz="2800" b="1" dirty="0">
                <a:latin typeface="Lucida Sans"/>
                <a:ea typeface="+mn-lt"/>
                <a:cs typeface="+mn-lt"/>
              </a:rPr>
              <a:t>)</a:t>
            </a:r>
            <a:endParaRPr lang="en-US" sz="2800" dirty="0">
              <a:latin typeface="Lucida Sans"/>
              <a:ea typeface="+mn-lt"/>
              <a:cs typeface="+mn-lt"/>
            </a:endParaRPr>
          </a:p>
          <a:p>
            <a:pPr marL="952500" lvl="1" indent="-342900">
              <a:buClr>
                <a:srgbClr val="262626"/>
              </a:buClr>
              <a:buFont typeface="Arial"/>
              <a:buChar char="•"/>
            </a:pPr>
            <a:r>
              <a:rPr lang="en-US" sz="2400" dirty="0">
                <a:latin typeface="Lucida Sans"/>
                <a:ea typeface="+mn-lt"/>
                <a:cs typeface="+mn-lt"/>
              </a:rPr>
              <a:t>A compile-time mechanism that detects/prevents the modification of return address during function execution</a:t>
            </a:r>
            <a:br>
              <a:rPr lang="en-US" sz="2400" dirty="0">
                <a:latin typeface="Lucida Sans"/>
                <a:ea typeface="+mn-lt"/>
                <a:cs typeface="+mn-lt"/>
              </a:rPr>
            </a:br>
            <a:endParaRPr lang="en-US" sz="2400" dirty="0">
              <a:latin typeface="Lucida Sans"/>
              <a:ea typeface="+mn-lt"/>
              <a:cs typeface="+mn-lt"/>
            </a:endParaRPr>
          </a:p>
          <a:p>
            <a:pPr marL="952500" lvl="1" indent="-342900">
              <a:buClr>
                <a:srgbClr val="262626"/>
              </a:buClr>
              <a:buFont typeface="Arial"/>
              <a:buChar char="•"/>
            </a:pPr>
            <a:r>
              <a:rPr lang="en-US" sz="2400" dirty="0">
                <a:latin typeface="Lucida Sans"/>
                <a:ea typeface="+mn-lt"/>
                <a:cs typeface="+mn-lt"/>
              </a:rPr>
              <a:t>When the function starts, a “canary word” is put on the stack in between the function’s local variables and saved return address </a:t>
            </a:r>
            <a:br>
              <a:rPr lang="en-US" sz="2400" dirty="0">
                <a:latin typeface="Lucida Sans"/>
                <a:ea typeface="+mn-lt"/>
                <a:cs typeface="+mn-lt"/>
              </a:rPr>
            </a:br>
            <a:endParaRPr lang="en-US" sz="2400" dirty="0">
              <a:latin typeface="Lucida Sans"/>
              <a:ea typeface="+mn-lt"/>
              <a:cs typeface="+mn-lt"/>
            </a:endParaRPr>
          </a:p>
          <a:p>
            <a:pPr marL="952500" lvl="1" indent="-342900">
              <a:buClr>
                <a:srgbClr val="262626"/>
              </a:buClr>
              <a:buFont typeface="Arial"/>
              <a:buChar char="•"/>
            </a:pPr>
            <a:r>
              <a:rPr lang="en-US" sz="2400" dirty="0">
                <a:latin typeface="Lucida Sans"/>
                <a:ea typeface="+mn-lt"/>
                <a:cs typeface="+mn-lt"/>
              </a:rPr>
              <a:t>If a local buffer is overrun, the canary will have to be “killed” before the return address can be modified</a:t>
            </a:r>
            <a:endParaRPr lang="en-US" sz="2400" dirty="0">
              <a:latin typeface="Lucida Sans"/>
            </a:endParaRPr>
          </a:p>
          <a:p>
            <a:pPr marL="608965" indent="-456565">
              <a:buClr>
                <a:srgbClr val="262626"/>
              </a:buClr>
            </a:pPr>
            <a:endParaRPr lang="en-US" sz="2800" dirty="0">
              <a:latin typeface="Lucida Sans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97849-CF9D-6CC2-5293-6B1CB6B53B0D}"/>
              </a:ext>
            </a:extLst>
          </p:cNvPr>
          <p:cNvSpPr txBox="1"/>
          <p:nvPr/>
        </p:nvSpPr>
        <p:spPr>
          <a:xfrm>
            <a:off x="9113920" y="6507079"/>
            <a:ext cx="28575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cs typeface="Arial"/>
              </a:rPr>
              <a:t>Source: </a:t>
            </a:r>
            <a:r>
              <a:rPr lang="en-US" sz="1100" b="1" dirty="0">
                <a:ea typeface="+mn-lt"/>
                <a:cs typeface="+mn-lt"/>
              </a:rPr>
              <a:t>Alex Bardas's EECS 765 slides</a:t>
            </a:r>
            <a:endParaRPr lang="en-US" sz="1100" b="1" dirty="0"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DD3376-D5CD-10AC-76E0-EA7C1A178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852" y="1088521"/>
            <a:ext cx="5446568" cy="389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8965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963</Words>
  <Application>Microsoft Office PowerPoint</Application>
  <PresentationFormat>Widescreen</PresentationFormat>
  <Paragraphs>157</Paragraphs>
  <Slides>27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Savon</vt:lpstr>
      <vt:lpstr>EECS 388:  Embedded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Buffer overflow vulnerability</vt:lpstr>
      <vt:lpstr>Creating a malicious input</vt:lpstr>
      <vt:lpstr>PowerPoint Presentation</vt:lpstr>
      <vt:lpstr>Stack overflow in Embedded System</vt:lpstr>
      <vt:lpstr>Agent.c program</vt:lpstr>
      <vt:lpstr>Let's find out the problem</vt:lpstr>
      <vt:lpstr>SECURITY PROBLEMS IN the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Agent.c program</vt:lpstr>
      <vt:lpstr>Mitigation</vt:lpstr>
      <vt:lpstr>Mitigation</vt:lpstr>
      <vt:lpstr>Mitigation</vt:lpstr>
      <vt:lpstr>Mitigation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Hasan, Mahmudul</cp:lastModifiedBy>
  <cp:revision>2137</cp:revision>
  <dcterms:created xsi:type="dcterms:W3CDTF">2023-04-17T23:06:40Z</dcterms:created>
  <dcterms:modified xsi:type="dcterms:W3CDTF">2024-06-28T11:32:35Z</dcterms:modified>
</cp:coreProperties>
</file>