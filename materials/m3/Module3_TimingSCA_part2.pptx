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4" r:id="rId1"/>
  </p:sldMasterIdLst>
  <p:notesMasterIdLst>
    <p:notesMasterId r:id="rId11"/>
  </p:notesMasterIdLst>
  <p:sldIdLst>
    <p:sldId id="323" r:id="rId2"/>
    <p:sldId id="340" r:id="rId3"/>
    <p:sldId id="343" r:id="rId4"/>
    <p:sldId id="341" r:id="rId5"/>
    <p:sldId id="342" r:id="rId6"/>
    <p:sldId id="344" r:id="rId7"/>
    <p:sldId id="347" r:id="rId8"/>
    <p:sldId id="345" r:id="rId9"/>
    <p:sldId id="34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1730FA-AA60-8BBC-98AA-FF2CE4D9BEF2}" v="2082" dt="2023-04-27T17:41:10.224"/>
    <p1510:client id="{1DF901E0-6A56-B1F0-E678-6CA95D62A5C6}" v="994" dt="2023-04-20T08:43:07.078"/>
    <p1510:client id="{35E726DA-3808-4BD6-BDD3-8641035178FE}" v="6327" dt="2023-04-18T09:53:30.273"/>
    <p1510:client id="{46E22DFA-3A71-DDA7-E306-84A84DF0FFD7}" v="130" dt="2023-04-20T17:32:52.289"/>
    <p1510:client id="{A0A3E9E7-4B22-4656-BEA7-3F21317BB7FE}" v="5" dt="2023-04-18T17:32:57.605"/>
    <p1510:client id="{B53246C0-DD0F-D248-2EEC-CF4E4BFFF1E4}" v="28" dt="2023-04-18T18:00:01.530"/>
    <p1510:client id="{C2B1C16D-D290-EFBF-5180-E6C3A2CF38BC}" v="830" dt="2023-04-27T05:50:20.581"/>
    <p1510:client id="{D624BD43-81AF-F350-ED3E-895C0600BA27}" v="1" dt="2023-04-20T16:13:49.3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8D023-19DD-4213-ACD4-C276704CFDED}" type="datetimeFigureOut">
              <a:t>6/26/2024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423B6-D784-43A9-91AC-497CCEBDF6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63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8319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7469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573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0031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5068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9714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153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0181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8968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76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67498" y="2328844"/>
            <a:ext cx="6661249" cy="628762"/>
          </a:xfrm>
          <a:prstGeom prst="callout1">
            <a:avLst>
              <a:gd name="adj1" fmla="val 151403"/>
              <a:gd name="adj2" fmla="val 99873"/>
              <a:gd name="adj3" fmla="val 151570"/>
              <a:gd name="adj4" fmla="val 213"/>
            </a:avLst>
          </a:prstGeom>
          <a:noFill/>
          <a:ln w="44450">
            <a:solidFill>
              <a:schemeClr val="bg1"/>
            </a:solidFill>
          </a:ln>
        </p:spPr>
        <p:txBody>
          <a:bodyPr wrap="square" tIns="45720" bIns="45720" anchor="ctr">
            <a:spAutoFit/>
          </a:bodyPr>
          <a:lstStyle>
            <a:lvl1pPr algn="l">
              <a:lnSpc>
                <a:spcPct val="83000"/>
              </a:lnSpc>
              <a:defRPr lang="en-US" sz="4200" b="1" kern="1200" cap="all" spc="45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88530" y="1146085"/>
            <a:ext cx="4207152" cy="347390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spc="450" baseline="0">
                <a:solidFill>
                  <a:srgbClr val="2767FF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4036D0F-E6CC-AD4F-9DE7-1B86DEF9BD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46405"/>
          <a:stretch/>
        </p:blipFill>
        <p:spPr>
          <a:xfrm>
            <a:off x="7694407" y="5746174"/>
            <a:ext cx="868680" cy="11118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BF0A6A2-7D8C-F341-9392-3B8CB07223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10"/>
          <a:stretch/>
        </p:blipFill>
        <p:spPr>
          <a:xfrm>
            <a:off x="10367640" y="-1"/>
            <a:ext cx="1239147" cy="123317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5C8E371-A18B-9649-9D46-C040852A6B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3764" y="764795"/>
            <a:ext cx="1239147" cy="3474720"/>
          </a:xfrm>
          <a:prstGeom prst="rect">
            <a:avLst/>
          </a:prstGeom>
        </p:spPr>
      </p:pic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B2A50F33-1127-9044-987A-9E84151D871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482971" y="3921067"/>
            <a:ext cx="7507518" cy="738664"/>
          </a:xfrm>
          <a:prstGeom prst="callout1">
            <a:avLst>
              <a:gd name="adj1" fmla="val 142408"/>
              <a:gd name="adj2" fmla="val 100539"/>
              <a:gd name="adj3" fmla="val 142808"/>
              <a:gd name="adj4" fmla="val 61"/>
            </a:avLst>
          </a:prstGeom>
          <a:ln w="44450">
            <a:solidFill>
              <a:schemeClr val="bg1"/>
            </a:solidFill>
          </a:ln>
        </p:spPr>
        <p:txBody>
          <a:bodyPr wrap="square">
            <a:spAutoFit/>
          </a:bodyPr>
          <a:lstStyle>
            <a:lvl1pPr marL="0" indent="0">
              <a:buFontTx/>
              <a:buNone/>
              <a:defRPr sz="4200" b="1" cap="all" spc="450" baseline="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Second line of title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DE7726-77AE-414C-AA4F-BA3F269E53D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070581" y="5955776"/>
            <a:ext cx="2536206" cy="55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30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DDE5ED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9034885" cy="4467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B304764-A6E3-F44A-9B34-CAF3E6772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F8A9C23-D111-364B-B2F1-E0654317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45059F5-336C-CA4C-9356-F25990B64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405C21-E491-BC4E-BEEA-DC2984EA70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6800" y="1511300"/>
            <a:ext cx="1005840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779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F04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26C5FE-DDD3-6645-A255-E80B266A4C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49"/>
          <a:stretch/>
        </p:blipFill>
        <p:spPr>
          <a:xfrm>
            <a:off x="10272625" y="0"/>
            <a:ext cx="868680" cy="9076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9CD684-1424-7E44-89BF-1FDC7AC58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27"/>
          <a:stretch/>
        </p:blipFill>
        <p:spPr>
          <a:xfrm>
            <a:off x="9355851" y="4968711"/>
            <a:ext cx="1239147" cy="188928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49013512-CA4A-B745-8FB9-1A54E5B23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7498" y="1803680"/>
            <a:ext cx="6661249" cy="628762"/>
          </a:xfrm>
          <a:prstGeom prst="callout1">
            <a:avLst>
              <a:gd name="adj1" fmla="val 152089"/>
              <a:gd name="adj2" fmla="val 98902"/>
              <a:gd name="adj3" fmla="val 151570"/>
              <a:gd name="adj4" fmla="val 213"/>
            </a:avLst>
          </a:prstGeom>
          <a:noFill/>
          <a:ln w="44450">
            <a:solidFill>
              <a:schemeClr val="bg1"/>
            </a:solidFill>
          </a:ln>
        </p:spPr>
        <p:txBody>
          <a:bodyPr wrap="square" tIns="45720" bIns="45720" anchor="ctr">
            <a:spAutoFit/>
          </a:bodyPr>
          <a:lstStyle>
            <a:lvl1pPr algn="l">
              <a:lnSpc>
                <a:spcPct val="83000"/>
              </a:lnSpc>
              <a:defRPr lang="en-US" sz="4200" b="1" kern="1200" cap="all" spc="45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add title  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8F4CE4FA-E97A-1F46-8C6F-93D575A760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82971" y="3502810"/>
            <a:ext cx="7497012" cy="738664"/>
          </a:xfrm>
          <a:prstGeom prst="callout1">
            <a:avLst>
              <a:gd name="adj1" fmla="val 140743"/>
              <a:gd name="adj2" fmla="val 98415"/>
              <a:gd name="adj3" fmla="val 142808"/>
              <a:gd name="adj4" fmla="val 61"/>
            </a:avLst>
          </a:prstGeom>
          <a:ln w="44450">
            <a:solidFill>
              <a:schemeClr val="bg1"/>
            </a:solidFill>
          </a:ln>
        </p:spPr>
        <p:txBody>
          <a:bodyPr wrap="square">
            <a:spAutoFit/>
          </a:bodyPr>
          <a:lstStyle>
            <a:lvl1pPr marL="0" indent="0">
              <a:buFontTx/>
              <a:buNone/>
              <a:defRPr sz="4200" b="1" cap="all" spc="450" baseline="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Second line of title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367277-8BE6-464D-B29E-E610810EDA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2842" y="5919242"/>
            <a:ext cx="901052" cy="57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62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DDE5ED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426789"/>
            <a:ext cx="4754880" cy="374904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1426789"/>
            <a:ext cx="4754880" cy="374904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8D46903-12A5-4A4A-91DE-B8D617FDA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FA4DB4B-0E9F-9942-9277-BEF9ECDF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727DA26-7BCD-E245-8DDF-83534B1D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9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754880" cy="6400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800" b="1" cap="all" spc="250" baseline="0">
                <a:solidFill>
                  <a:srgbClr val="F04137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074334"/>
            <a:ext cx="4754880" cy="6400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900" b="1" cap="all" spc="250" baseline="0">
                <a:solidFill>
                  <a:srgbClr val="F04137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18FA918-65B4-214A-9CAB-F8053AA5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305BCAB-C80A-734E-8FE8-C4F5BA37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A860183-361F-1C4B-B886-3F6FF040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3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0A4C793-3B9B-E84F-97F0-4DDEE766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B9923D7-99ED-ED48-A074-DF1596B6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28A27DD-1453-9F49-9E4D-6FEAD51D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1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B0A00E-20BE-C948-867E-3668DC43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05E73-AE62-7044-B3B7-B031E8E020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0DF0A-9E92-A44E-A7A9-FF0CE25409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0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0"/>
            <a:ext cx="3171614" cy="6858000"/>
          </a:xfrm>
          <a:prstGeom prst="rect">
            <a:avLst/>
          </a:prstGeom>
          <a:solidFill>
            <a:srgbClr val="276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noFill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01707" y="2268971"/>
            <a:ext cx="2430780" cy="36746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4F033-E8B3-FC49-A373-38528C1F1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832" y="718987"/>
            <a:ext cx="2301368" cy="830997"/>
          </a:xfrm>
          <a:prstGeom prst="callout1">
            <a:avLst>
              <a:gd name="adj1" fmla="val 130380"/>
              <a:gd name="adj2" fmla="val 97389"/>
              <a:gd name="adj3" fmla="val 130532"/>
              <a:gd name="adj4" fmla="val 882"/>
            </a:avLst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 add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41F8B18-227C-FD4B-9CE2-DB080376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03DEA8E-EF8B-B54D-BB93-3910E00B8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6354079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66535B3-74BE-824E-A5F3-911F27976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27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rtical Content Placeholder 10">
            <a:extLst>
              <a:ext uri="{FF2B5EF4-FFF2-40B4-BE49-F238E27FC236}">
                <a16:creationId xmlns:a16="http://schemas.microsoft.com/office/drawing/2014/main" id="{31988C9D-6340-4641-B3D6-CEF598BDBE21}"/>
              </a:ext>
            </a:extLst>
          </p:cNvPr>
          <p:cNvSpPr>
            <a:spLocks noGrp="1"/>
          </p:cNvSpPr>
          <p:nvPr>
            <p:ph orient="vert" sz="quarter" idx="13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150303C-5D28-5F4D-B861-06B060BC6FA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3AD7D3E-5692-7146-9F5F-0A8B2ECB26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8759A6-6AAC-6447-921C-D80252E618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9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rtical Content Placeholder 10">
            <a:extLst>
              <a:ext uri="{FF2B5EF4-FFF2-40B4-BE49-F238E27FC236}">
                <a16:creationId xmlns:a16="http://schemas.microsoft.com/office/drawing/2014/main" id="{46DD52FC-9FA7-9D47-961B-79256696D98C}"/>
              </a:ext>
            </a:extLst>
          </p:cNvPr>
          <p:cNvSpPr>
            <a:spLocks noGrp="1"/>
          </p:cNvSpPr>
          <p:nvPr>
            <p:ph orient="vert" sz="quarter" idx="13"/>
          </p:nvPr>
        </p:nvSpPr>
        <p:spPr>
          <a:xfrm>
            <a:off x="1066800" y="762000"/>
            <a:ext cx="9013825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532" y="762000"/>
            <a:ext cx="1016267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526289-57CA-F843-8A8F-87F100C51C3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61B23C-61B2-4C44-A5C8-9CFD7CFB15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E46047B-956D-3243-B5FD-F5DC3CCB21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10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Vertical Content Placeholder 12">
            <a:extLst>
              <a:ext uri="{FF2B5EF4-FFF2-40B4-BE49-F238E27FC236}">
                <a16:creationId xmlns:a16="http://schemas.microsoft.com/office/drawing/2014/main" id="{D9CE4C93-E6E5-834E-95FE-696ECFBCECE9}"/>
              </a:ext>
            </a:extLst>
          </p:cNvPr>
          <p:cNvSpPr>
            <a:spLocks noGrp="1"/>
          </p:cNvSpPr>
          <p:nvPr>
            <p:ph orient="vert" sz="quarter" idx="13"/>
          </p:nvPr>
        </p:nvSpPr>
        <p:spPr>
          <a:xfrm rot="10800000">
            <a:off x="1952625" y="762000"/>
            <a:ext cx="9420225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0800000">
            <a:off x="838200" y="762000"/>
            <a:ext cx="882387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A80655-2B7E-B042-853A-953F0EF0544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7090A5-0D6F-9E49-9A0A-FEA22FCC1B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904694-41A7-0F42-87ED-DD4ADBE8C6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0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289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9034885" cy="446735"/>
          </a:xfrm>
          <a:prstGeom prst="rect">
            <a:avLst/>
          </a:prstGeom>
          <a:ln w="4445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371600"/>
            <a:ext cx="1005840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6800" y="6307672"/>
            <a:ext cx="1275933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6216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87BBC1-8790-1F40-A017-B4344BC0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2825" y="6307672"/>
            <a:ext cx="7181711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51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7" r:id="rId7"/>
    <p:sldLayoutId id="2147483972" r:id="rId8"/>
    <p:sldLayoutId id="2147483974" r:id="rId9"/>
    <p:sldLayoutId id="2147483975" r:id="rId10"/>
    <p:sldLayoutId id="2147483976" r:id="rId11"/>
    <p:sldLayoutId id="214748397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000" b="1" kern="1200" cap="all" spc="450" baseline="0" dirty="0">
          <a:solidFill>
            <a:srgbClr val="2767FF"/>
          </a:solidFill>
          <a:effectLst/>
          <a:latin typeface="+mj-lt"/>
          <a:ea typeface="+mn-ea"/>
          <a:cs typeface="+mn-cs"/>
        </a:defRPr>
      </a:lvl1pPr>
    </p:titleStyle>
    <p:bodyStyle>
      <a:lvl1pPr marL="274320" indent="-27432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An Example on timing Attack</a:t>
            </a:r>
          </a:p>
        </p:txBody>
      </p:sp>
      <p:pic>
        <p:nvPicPr>
          <p:cNvPr id="6" name="Picture 6" descr="Text, letter&#10;&#10;Description automatically generated">
            <a:extLst>
              <a:ext uri="{FF2B5EF4-FFF2-40B4-BE49-F238E27FC236}">
                <a16:creationId xmlns:a16="http://schemas.microsoft.com/office/drawing/2014/main" id="{2EDBE882-85E3-8CBF-AD8B-BB8E5B958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7" y="873117"/>
            <a:ext cx="5352790" cy="2721384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7" name="Picture 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B669855-59A9-2AA5-B689-E5E4D56AC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413" y="872082"/>
            <a:ext cx="6480131" cy="2723451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CD09F547-1E0D-6CBF-8EF1-1FE31B7F0C48}"/>
              </a:ext>
            </a:extLst>
          </p:cNvPr>
          <p:cNvSpPr/>
          <p:nvPr/>
        </p:nvSpPr>
        <p:spPr>
          <a:xfrm>
            <a:off x="11597013" y="3361151"/>
            <a:ext cx="532356" cy="5532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cs typeface="Arial"/>
              </a:rPr>
              <a:t>2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E66E45F8-723F-7F87-9821-2C01BDAEF7D2}"/>
              </a:ext>
            </a:extLst>
          </p:cNvPr>
          <p:cNvSpPr/>
          <p:nvPr/>
        </p:nvSpPr>
        <p:spPr>
          <a:xfrm>
            <a:off x="-1" y="396657"/>
            <a:ext cx="532356" cy="5532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7717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An Example on timing Attack</a:t>
            </a:r>
          </a:p>
        </p:txBody>
      </p:sp>
      <p:pic>
        <p:nvPicPr>
          <p:cNvPr id="2" name="Picture 2" descr="Text&#10;&#10;Description automatically generated">
            <a:extLst>
              <a:ext uri="{FF2B5EF4-FFF2-40B4-BE49-F238E27FC236}">
                <a16:creationId xmlns:a16="http://schemas.microsoft.com/office/drawing/2014/main" id="{7986C5E8-0F95-9BAB-A1F3-5F8C7584B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83" y="1539919"/>
            <a:ext cx="5759884" cy="5041204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498981A4-988F-98CE-2ABB-6E54E849A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825" y="869952"/>
            <a:ext cx="5686816" cy="3562782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4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AEAD075-B634-EC80-895E-F4C7FBFE9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825" y="4555516"/>
            <a:ext cx="5686816" cy="2005817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D7181F3-12BF-D104-8A39-DCE286F8A593}"/>
              </a:ext>
            </a:extLst>
          </p:cNvPr>
          <p:cNvSpPr/>
          <p:nvPr/>
        </p:nvSpPr>
        <p:spPr>
          <a:xfrm>
            <a:off x="-10439" y="1033398"/>
            <a:ext cx="532356" cy="5532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cs typeface="Arial"/>
              </a:rPr>
              <a:t>3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434575DF-05DE-8E33-8356-AC4165DABE2D}"/>
              </a:ext>
            </a:extLst>
          </p:cNvPr>
          <p:cNvSpPr/>
          <p:nvPr/>
        </p:nvSpPr>
        <p:spPr>
          <a:xfrm>
            <a:off x="5709780" y="647178"/>
            <a:ext cx="532356" cy="5532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cs typeface="Arial"/>
              </a:rPr>
              <a:t>4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A7743EE-D2C9-7E8F-9996-3ED36057C162}"/>
              </a:ext>
            </a:extLst>
          </p:cNvPr>
          <p:cNvSpPr/>
          <p:nvPr/>
        </p:nvSpPr>
        <p:spPr>
          <a:xfrm>
            <a:off x="11461313" y="6231698"/>
            <a:ext cx="532356" cy="5532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cs typeface="Arial"/>
              </a:rPr>
              <a:t>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C0D04A-DA71-A384-4616-625CC2741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263" y="899588"/>
            <a:ext cx="5230228" cy="353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49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An Example on timing Attack</a:t>
            </a:r>
          </a:p>
        </p:txBody>
      </p:sp>
      <p:pic>
        <p:nvPicPr>
          <p:cNvPr id="2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E589582-EF89-8E5F-65B6-654656F54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551" y="828344"/>
            <a:ext cx="6855911" cy="5785857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501CF8-8372-BA1D-7ACC-B77CA2CEB689}"/>
              </a:ext>
            </a:extLst>
          </p:cNvPr>
          <p:cNvSpPr txBox="1"/>
          <p:nvPr/>
        </p:nvSpPr>
        <p:spPr>
          <a:xfrm>
            <a:off x="480164" y="1617945"/>
            <a:ext cx="2743199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After Writing the code, </a:t>
            </a:r>
            <a:r>
              <a:rPr lang="en-US" b="1" dirty="0">
                <a:solidFill>
                  <a:srgbClr val="FF0000"/>
                </a:solidFill>
                <a:cs typeface="Arial"/>
              </a:rPr>
              <a:t>translate </a:t>
            </a:r>
            <a:r>
              <a:rPr lang="en-US" dirty="0">
                <a:cs typeface="Arial"/>
              </a:rPr>
              <a:t>it, </a:t>
            </a:r>
            <a:r>
              <a:rPr lang="en-US" b="1" dirty="0">
                <a:solidFill>
                  <a:srgbClr val="FF0000"/>
                </a:solidFill>
                <a:cs typeface="Arial"/>
              </a:rPr>
              <a:t>build </a:t>
            </a:r>
            <a:r>
              <a:rPr lang="en-US" dirty="0">
                <a:cs typeface="Arial"/>
              </a:rPr>
              <a:t>it and go to </a:t>
            </a:r>
            <a:r>
              <a:rPr lang="en-US" b="1" dirty="0">
                <a:solidFill>
                  <a:srgbClr val="FF0000"/>
                </a:solidFill>
                <a:cs typeface="Arial"/>
              </a:rPr>
              <a:t>debug </a:t>
            </a:r>
            <a:r>
              <a:rPr lang="en-US" dirty="0">
                <a:cs typeface="Arial"/>
              </a:rPr>
              <a:t>mode.</a:t>
            </a:r>
            <a:endParaRPr lang="en-US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6D240A1A-89D8-009C-0E19-88C94684B48C}"/>
              </a:ext>
            </a:extLst>
          </p:cNvPr>
          <p:cNvSpPr/>
          <p:nvPr/>
        </p:nvSpPr>
        <p:spPr>
          <a:xfrm>
            <a:off x="10824573" y="396657"/>
            <a:ext cx="532356" cy="5532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cs typeface="Arial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1E514-40CD-C737-0F72-4458B10173DC}"/>
              </a:ext>
            </a:extLst>
          </p:cNvPr>
          <p:cNvSpPr txBox="1"/>
          <p:nvPr/>
        </p:nvSpPr>
        <p:spPr>
          <a:xfrm>
            <a:off x="480163" y="3100191"/>
            <a:ext cx="2743199" cy="175432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Click "View" =&gt; "Serial Windows" =&gt; "UART #1"</a:t>
            </a:r>
          </a:p>
          <a:p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Note: You can drag and move the window as this screenshot view.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FB7A819-B7D5-4DAD-2495-505AAC4A2799}"/>
              </a:ext>
            </a:extLst>
          </p:cNvPr>
          <p:cNvSpPr/>
          <p:nvPr/>
        </p:nvSpPr>
        <p:spPr>
          <a:xfrm>
            <a:off x="83505" y="2703533"/>
            <a:ext cx="532356" cy="5532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72265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An Example on timing Attack</a:t>
            </a:r>
          </a:p>
        </p:txBody>
      </p:sp>
      <p:pic>
        <p:nvPicPr>
          <p:cNvPr id="5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9ABCB74-76C6-5F44-7EE9-3ED1D0FEB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838" y="1255681"/>
            <a:ext cx="8672187" cy="4263128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4BFDAF-8B82-CB82-C88B-A655A3DCCE91}"/>
              </a:ext>
            </a:extLst>
          </p:cNvPr>
          <p:cNvSpPr txBox="1"/>
          <p:nvPr/>
        </p:nvSpPr>
        <p:spPr>
          <a:xfrm>
            <a:off x="407095" y="2285999"/>
            <a:ext cx="2743199" cy="203132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Click "View" =&gt; "Analysis Windows" =&gt; "Logic Analyzer"</a:t>
            </a:r>
          </a:p>
          <a:p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Note: You can drag and move the window as this screenshot view.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DF842B06-1873-ED58-77B1-58C769A34C66}"/>
              </a:ext>
            </a:extLst>
          </p:cNvPr>
          <p:cNvSpPr/>
          <p:nvPr/>
        </p:nvSpPr>
        <p:spPr>
          <a:xfrm>
            <a:off x="10436" y="1889341"/>
            <a:ext cx="532356" cy="5532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cs typeface="Arial"/>
              </a:rPr>
              <a:t>7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86D6C382-59DE-1720-230B-8C0BCAFFAE28}"/>
              </a:ext>
            </a:extLst>
          </p:cNvPr>
          <p:cNvSpPr/>
          <p:nvPr/>
        </p:nvSpPr>
        <p:spPr>
          <a:xfrm>
            <a:off x="11429997" y="782874"/>
            <a:ext cx="532356" cy="55323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49912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An Example on timing Attack</a:t>
            </a:r>
          </a:p>
        </p:txBody>
      </p:sp>
      <p:pic>
        <p:nvPicPr>
          <p:cNvPr id="2" name="Picture 2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3734E57D-0FF3-2794-DA0C-8E233B935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0" y="789705"/>
            <a:ext cx="3964487" cy="3556261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9E9E60-ABCD-C3CF-CA49-25AE000C8453}"/>
              </a:ext>
            </a:extLst>
          </p:cNvPr>
          <p:cNvSpPr txBox="1"/>
          <p:nvPr/>
        </p:nvSpPr>
        <p:spPr>
          <a:xfrm>
            <a:off x="93944" y="4373670"/>
            <a:ext cx="3954048" cy="147732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Click "Setup" in the Logic Analyzer window and you will see the "Setup Logic Analyzer" window.</a:t>
            </a:r>
          </a:p>
          <a:p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Click "New(Insert)" icon</a:t>
            </a:r>
          </a:p>
        </p:txBody>
      </p:sp>
      <p:pic>
        <p:nvPicPr>
          <p:cNvPr id="5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E5B98C0-F768-6B38-9482-023196220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359" y="785165"/>
            <a:ext cx="3787035" cy="2114409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2ECA3C-607D-809B-942C-AB14C35F4866}"/>
              </a:ext>
            </a:extLst>
          </p:cNvPr>
          <p:cNvSpPr txBox="1"/>
          <p:nvPr/>
        </p:nvSpPr>
        <p:spPr>
          <a:xfrm>
            <a:off x="4227532" y="2985368"/>
            <a:ext cx="3776596" cy="1200329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Write "TR0" and click anywhere in the window. (The last character is zero not "O")</a:t>
            </a:r>
          </a:p>
          <a:p>
            <a:endParaRPr lang="en-US" dirty="0">
              <a:cs typeface="Arial"/>
            </a:endParaRPr>
          </a:p>
        </p:txBody>
      </p:sp>
      <p:pic>
        <p:nvPicPr>
          <p:cNvPr id="7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1A8C983B-3DC4-4271-6556-736478684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304" y="786313"/>
            <a:ext cx="3912295" cy="48365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EE8CAB-6828-7B58-4A0C-883471EA992D}"/>
              </a:ext>
            </a:extLst>
          </p:cNvPr>
          <p:cNvSpPr txBox="1"/>
          <p:nvPr/>
        </p:nvSpPr>
        <p:spPr>
          <a:xfrm>
            <a:off x="8127305" y="5747359"/>
            <a:ext cx="3912295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Click on the signal "TR0" &gt;&gt; change "Display Type" to "Bit" &gt;&gt; click "Close"</a:t>
            </a:r>
          </a:p>
        </p:txBody>
      </p:sp>
    </p:spTree>
    <p:extLst>
      <p:ext uri="{BB962C8B-B14F-4D97-AF65-F5344CB8AC3E}">
        <p14:creationId xmlns:p14="http://schemas.microsoft.com/office/powerpoint/2010/main" val="2169877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An Example on timing Attack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E8CAB-6828-7B58-4A0C-883471EA992D}"/>
              </a:ext>
            </a:extLst>
          </p:cNvPr>
          <p:cNvSpPr txBox="1"/>
          <p:nvPr/>
        </p:nvSpPr>
        <p:spPr>
          <a:xfrm>
            <a:off x="1613771" y="5267195"/>
            <a:ext cx="9089718" cy="147732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Click "Run".</a:t>
            </a:r>
          </a:p>
          <a:p>
            <a:r>
              <a:rPr lang="en-US" dirty="0">
                <a:cs typeface="Arial"/>
              </a:rPr>
              <a:t>You will observe that in the "UART #1" terminal the program is asking for the password from the user!</a:t>
            </a:r>
          </a:p>
          <a:p>
            <a:r>
              <a:rPr lang="en-US" dirty="0">
                <a:cs typeface="Arial"/>
              </a:rPr>
              <a:t>Also, in the logic analyzer window zoom out the signal and you should observe that the value of "TR0" is low.</a:t>
            </a:r>
          </a:p>
        </p:txBody>
      </p:sp>
      <p:pic>
        <p:nvPicPr>
          <p:cNvPr id="3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7380F11-76CC-A211-04C9-629527029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030" y="830044"/>
            <a:ext cx="7137748" cy="4446351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1081620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An Example on timing Attack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E8CAB-6828-7B58-4A0C-883471EA992D}"/>
              </a:ext>
            </a:extLst>
          </p:cNvPr>
          <p:cNvSpPr txBox="1"/>
          <p:nvPr/>
        </p:nvSpPr>
        <p:spPr>
          <a:xfrm>
            <a:off x="1582456" y="5361140"/>
            <a:ext cx="9079281" cy="64633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Any input for the password will create a transition in "TR0" signal. From the transition we can calculate the difference of correct and incorrect character in the password!</a:t>
            </a:r>
          </a:p>
        </p:txBody>
      </p:sp>
      <p:pic>
        <p:nvPicPr>
          <p:cNvPr id="3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FB71F8B-2EA3-E503-1FEE-C2D190B50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454" y="792811"/>
            <a:ext cx="9037527" cy="4374678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434896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An Example on timing Attack</a:t>
            </a:r>
          </a:p>
        </p:txBody>
      </p:sp>
      <p:pic>
        <p:nvPicPr>
          <p:cNvPr id="2" name="Picture 2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F5F64804-0EE9-E4F6-99BA-70BD474A0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427" y="786880"/>
            <a:ext cx="7670104" cy="4647498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EB6C6B-6069-5C99-B5BC-D5DD70AF69C7}"/>
              </a:ext>
            </a:extLst>
          </p:cNvPr>
          <p:cNvSpPr txBox="1"/>
          <p:nvPr/>
        </p:nvSpPr>
        <p:spPr>
          <a:xfrm>
            <a:off x="1638821" y="5501013"/>
            <a:ext cx="8526048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Click on the rising edge and zoom in up to a level so that we can calculate the difference! The difference between rising edge and falling edge is the execution time for one password check function. </a:t>
            </a:r>
          </a:p>
        </p:txBody>
      </p:sp>
    </p:spTree>
    <p:extLst>
      <p:ext uri="{BB962C8B-B14F-4D97-AF65-F5344CB8AC3E}">
        <p14:creationId xmlns:p14="http://schemas.microsoft.com/office/powerpoint/2010/main" val="1448862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An Example on timing Attack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EB6C6B-6069-5C99-B5BC-D5DD70AF69C7}"/>
              </a:ext>
            </a:extLst>
          </p:cNvPr>
          <p:cNvSpPr txBox="1"/>
          <p:nvPr/>
        </p:nvSpPr>
        <p:spPr>
          <a:xfrm>
            <a:off x="1832976" y="1005926"/>
            <a:ext cx="8526048" cy="147732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Hello =&gt; 196438187 – 196438339 = 152</a:t>
            </a:r>
          </a:p>
          <a:p>
            <a:r>
              <a:rPr lang="en-US" dirty="0" err="1">
                <a:cs typeface="Arial"/>
              </a:rPr>
              <a:t>Howareyou</a:t>
            </a:r>
            <a:r>
              <a:rPr lang="en-US" dirty="0">
                <a:cs typeface="Arial"/>
              </a:rPr>
              <a:t> =&gt; 8546 – 8668 = 122</a:t>
            </a:r>
          </a:p>
          <a:p>
            <a:r>
              <a:rPr lang="en-US" b="1" dirty="0" err="1">
                <a:solidFill>
                  <a:srgbClr val="FF0000"/>
                </a:solidFill>
                <a:cs typeface="Arial"/>
              </a:rPr>
              <a:t>I</a:t>
            </a:r>
            <a:r>
              <a:rPr lang="en-US" dirty="0" err="1">
                <a:cs typeface="Arial"/>
              </a:rPr>
              <a:t>ello</a:t>
            </a:r>
            <a:r>
              <a:rPr lang="en-US" dirty="0">
                <a:cs typeface="Arial"/>
              </a:rPr>
              <a:t> =&gt; 5463 – 5644 = 181</a:t>
            </a:r>
          </a:p>
          <a:p>
            <a:r>
              <a:rPr lang="en-US" b="1" dirty="0" err="1">
                <a:solidFill>
                  <a:srgbClr val="FF0000"/>
                </a:solidFill>
                <a:cs typeface="Arial"/>
              </a:rPr>
              <a:t>Iyk</a:t>
            </a:r>
            <a:r>
              <a:rPr lang="en-US" dirty="0" err="1">
                <a:cs typeface="Arial"/>
              </a:rPr>
              <a:t>pp</a:t>
            </a:r>
            <a:r>
              <a:rPr lang="en-US" dirty="0">
                <a:cs typeface="Arial"/>
              </a:rPr>
              <a:t> =&gt; 5508 – 5748 = 240</a:t>
            </a:r>
          </a:p>
          <a:p>
            <a:r>
              <a:rPr lang="en-US" b="1" dirty="0" err="1">
                <a:solidFill>
                  <a:srgbClr val="FF0000"/>
                </a:solidFill>
                <a:cs typeface="Arial"/>
              </a:rPr>
              <a:t>Iykyk</a:t>
            </a:r>
            <a:r>
              <a:rPr lang="en-US" dirty="0">
                <a:cs typeface="Arial"/>
              </a:rPr>
              <a:t> =&gt; 9003 – 9294 = 291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BCFCC-DA34-A6CA-06EF-187D8354E0F0}"/>
              </a:ext>
            </a:extLst>
          </p:cNvPr>
          <p:cNvSpPr txBox="1"/>
          <p:nvPr/>
        </p:nvSpPr>
        <p:spPr>
          <a:xfrm>
            <a:off x="1832976" y="2897419"/>
            <a:ext cx="8526048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cs typeface="Arial"/>
              </a:rPr>
              <a:t>Aaaaa</a:t>
            </a:r>
            <a:r>
              <a:rPr lang="en-US" dirty="0">
                <a:cs typeface="Arial"/>
              </a:rPr>
              <a:t> =&gt; 9641 – 9793 = 152 </a:t>
            </a:r>
          </a:p>
          <a:p>
            <a:r>
              <a:rPr lang="en-US" dirty="0" err="1">
                <a:cs typeface="Arial"/>
              </a:rPr>
              <a:t>Baaaa</a:t>
            </a:r>
            <a:r>
              <a:rPr lang="en-US" dirty="0">
                <a:cs typeface="Arial"/>
              </a:rPr>
              <a:t> =&gt; 5922 – 6065 = 143</a:t>
            </a:r>
          </a:p>
          <a:p>
            <a:r>
              <a:rPr lang="en-US" b="1" dirty="0" err="1">
                <a:solidFill>
                  <a:srgbClr val="FF0000"/>
                </a:solidFill>
                <a:cs typeface="Arial"/>
              </a:rPr>
              <a:t>I</a:t>
            </a:r>
            <a:r>
              <a:rPr lang="en-US" dirty="0" err="1">
                <a:cs typeface="Arial"/>
              </a:rPr>
              <a:t>aaaa</a:t>
            </a:r>
            <a:r>
              <a:rPr lang="en-US" dirty="0">
                <a:cs typeface="Arial"/>
              </a:rPr>
              <a:t> =&gt; 7706 – 7894 = 188</a:t>
            </a:r>
          </a:p>
        </p:txBody>
      </p:sp>
    </p:spTree>
    <p:extLst>
      <p:ext uri="{BB962C8B-B14F-4D97-AF65-F5344CB8AC3E}">
        <p14:creationId xmlns:p14="http://schemas.microsoft.com/office/powerpoint/2010/main" val="209630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567</TotalTime>
  <Words>376</Words>
  <Application>Microsoft Office PowerPoint</Application>
  <PresentationFormat>Widescreen</PresentationFormat>
  <Paragraphs>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Garamond</vt:lpstr>
      <vt:lpstr>Lucida Sans</vt:lpstr>
      <vt:lpstr>Savon</vt:lpstr>
      <vt:lpstr>An Example on timing Attack</vt:lpstr>
      <vt:lpstr>An Example on timing Attack</vt:lpstr>
      <vt:lpstr>An Example on timing Attack</vt:lpstr>
      <vt:lpstr>An Example on timing Attack</vt:lpstr>
      <vt:lpstr>An Example on timing Attack</vt:lpstr>
      <vt:lpstr>An Example on timing Attack</vt:lpstr>
      <vt:lpstr>An Example on timing Attack</vt:lpstr>
      <vt:lpstr>An Example on timing Attack</vt:lpstr>
      <vt:lpstr>An Example on timing Attack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Hasan, Mahmudul</cp:lastModifiedBy>
  <cp:revision>2765</cp:revision>
  <dcterms:created xsi:type="dcterms:W3CDTF">2023-04-17T23:06:40Z</dcterms:created>
  <dcterms:modified xsi:type="dcterms:W3CDTF">2024-06-26T20:12:17Z</dcterms:modified>
</cp:coreProperties>
</file>